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81" r:id="rId3"/>
    <p:sldId id="265" r:id="rId4"/>
    <p:sldId id="267" r:id="rId5"/>
    <p:sldId id="260" r:id="rId6"/>
    <p:sldId id="278" r:id="rId7"/>
    <p:sldId id="269" r:id="rId8"/>
    <p:sldId id="264" r:id="rId9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8"/>
    <a:srgbClr val="7FAC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52" autoAdjust="0"/>
    <p:restoredTop sz="94660"/>
  </p:normalViewPr>
  <p:slideViewPr>
    <p:cSldViewPr snapToGrid="0">
      <p:cViewPr varScale="1">
        <p:scale>
          <a:sx n="83" d="100"/>
          <a:sy n="83" d="100"/>
        </p:scale>
        <p:origin x="34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https://github.com/HKUSTDial/DataSpace</a:t>
            </a:r>
          </a:p>
          <a:p>
            <a:r>
              <a:t>公开410输入、60公开参考，课程范围60题。通用Agent定义按用户初稿。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数据挖掘课程期末大报告任务说明。</a:t>
            </a:r>
          </a:p>
          <a:p>
            <a:r>
              <a:t>资料核对：2026-10-08。</a:t>
            </a:r>
          </a:p>
          <a:p>
            <a:r>
              <a:t>https://github.com/HKUSTDial/DataSpace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数据挖掘课程期末大报告任务说明。</a:t>
            </a:r>
          </a:p>
          <a:p>
            <a:r>
              <a:t>资料核对：2026-10-08。</a:t>
            </a:r>
          </a:p>
          <a:p>
            <a:r>
              <a:t>https://github.com/HKUSTDial/DataSpace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数据挖掘课程期末大报告任务说明。</a:t>
            </a:r>
          </a:p>
          <a:p>
            <a:r>
              <a:t>资料核对：2026-10-08。</a:t>
            </a:r>
          </a:p>
          <a:p>
            <a:r>
              <a:t>https://dataagent.top/rules/phase-2#section-3-6</a:t>
            </a:r>
          </a:p>
          <a:p>
            <a:r>
              <a:t>https://github.com/HKUSTDial/DataSpace/tree/main/baseline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学习目标属于课程设计。通过开发过程和报告展示理解，避免只复制开源代码。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https://github.com/HKUSTDial/DataSpace</a:t>
            </a:r>
          </a:p>
          <a:p>
            <a:r>
              <a:t>https://dataagent.top/rules/phase-2</a:t>
            </a:r>
          </a:p>
          <a:p>
            <a:r>
              <a:t>课堂讲解：学生完成的是一个可运行的数据分析系统，并通过实验报告解释设计。不是只写比赛介绍。60题来自公开gold和configs，保持此前课程范围。具体分组、截止日期与权重仍由教师发布。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数据挖掘课程期末大报告任务说明。</a:t>
            </a:r>
          </a:p>
          <a:p>
            <a:r>
              <a:t>资料核对：2026-10-08。</a:t>
            </a:r>
          </a:p>
          <a:p>
            <a:r>
              <a:t>https://dataagent.top/rules/phase-2</a:t>
            </a:r>
          </a:p>
          <a:p>
            <a:r>
              <a:t>https://github.com/HKUSTDial/DataSpace</a:t>
            </a:r>
          </a:p>
          <a:p>
            <a:r>
              <a:t>https://github.com/zhezh/kddcup2026_champion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/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4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/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notesSlide" Target="../notesSlides/notesSlide7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19" Type="http://schemas.openxmlformats.org/officeDocument/2006/relationships/slideLayout" Target="../slideLayouts/slideLayout6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zhezh/kddcup2026_champion" TargetMode="External"/><Relationship Id="rId3" Type="http://schemas.openxmlformats.org/officeDocument/2006/relationships/hyperlink" Target="https://dataagent.top/" TargetMode="External"/><Relationship Id="rId7" Type="http://schemas.openxmlformats.org/officeDocument/2006/relationships/hyperlink" Target="https://github.com/zhezh/kddcup2026_champion/blob/main/src/data_agent_baseline/run_compare_to_gt.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HKUSTDial/DataSpace" TargetMode="External"/><Relationship Id="rId11" Type="http://schemas.openxmlformats.org/officeDocument/2006/relationships/hyperlink" Target="https://huggingface.co/datasets/HKUSTDial/DataSpace/blob/main/data/public_reference_tasks.json" TargetMode="External"/><Relationship Id="rId5" Type="http://schemas.openxmlformats.org/officeDocument/2006/relationships/hyperlink" Target="https://huggingface.co/datasets/HKUSTDial/DataSpace/tree/main/release" TargetMode="External"/><Relationship Id="rId10" Type="http://schemas.openxmlformats.org/officeDocument/2006/relationships/hyperlink" Target="https://developer.ecnu.edu.cn/vitepress/llm/authorization.html" TargetMode="External"/><Relationship Id="rId4" Type="http://schemas.openxmlformats.org/officeDocument/2006/relationships/hyperlink" Target="https://dataagent.top/rules/phase-2" TargetMode="External"/><Relationship Id="rId9" Type="http://schemas.openxmlformats.org/officeDocument/2006/relationships/hyperlink" Target="https://developer.ecnu.edu.cn/vitepress/ll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文-1"/>
          <p:cNvSpPr>
            <a:spLocks noGrp="1"/>
          </p:cNvSpPr>
          <p:nvPr/>
        </p:nvSpPr>
        <p:spPr>
          <a:xfrm>
            <a:off x="514350" y="304800"/>
            <a:ext cx="111633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期末大报告：实现一个自动数据分析助手</a:t>
            </a:r>
          </a:p>
        </p:txBody>
      </p:sp>
      <p:sp>
        <p:nvSpPr>
          <p:cNvPr id="2" name="正文-2"/>
          <p:cNvSpPr>
            <a:spLocks noGrp="1"/>
          </p:cNvSpPr>
          <p:nvPr/>
        </p:nvSpPr>
        <p:spPr>
          <a:xfrm>
            <a:off x="514350" y="971550"/>
            <a:ext cx="11163300" cy="3340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基于</a:t>
            </a:r>
            <a:r>
              <a:rPr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KDD Cup 2026 Data </a:t>
            </a: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Agents，开发通用</a:t>
            </a:r>
            <a:r>
              <a:rPr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Agent，完成公开</a:t>
            </a:r>
            <a:r>
              <a:rPr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60 </a:t>
            </a: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题评测与优化，挑战</a:t>
            </a:r>
            <a:r>
              <a:rPr lang="zh-CN"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超过</a:t>
            </a:r>
            <a:r>
              <a:rPr lang="zh-CN" altLang="en-US" sz="160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冠军方案的</a:t>
            </a: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实验</a:t>
            </a:r>
            <a:r>
              <a:rPr lang="zh-CN"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参考</a:t>
            </a:r>
            <a:r>
              <a:rPr sz="1600" b="0" dirty="0" err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基线</a:t>
            </a:r>
            <a:r>
              <a:rPr sz="1600" b="0" dirty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" name="作业说明-3"/>
          <p:cNvSpPr>
            <a:spLocks noGrp="1"/>
          </p:cNvSpPr>
          <p:nvPr/>
        </p:nvSpPr>
        <p:spPr>
          <a:xfrm>
            <a:off x="514350" y="1490345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4" name="正文-4"/>
          <p:cNvSpPr>
            <a:spLocks noGrp="1"/>
          </p:cNvSpPr>
          <p:nvPr/>
        </p:nvSpPr>
        <p:spPr>
          <a:xfrm>
            <a:off x="11001375" y="64865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01 / 09</a:t>
            </a:r>
          </a:p>
        </p:txBody>
      </p:sp>
      <p:sp>
        <p:nvSpPr>
          <p:cNvPr id="5" name="正文-5"/>
          <p:cNvSpPr>
            <a:spLocks noGrp="1"/>
          </p:cNvSpPr>
          <p:nvPr/>
        </p:nvSpPr>
        <p:spPr>
          <a:xfrm>
            <a:off x="514350" y="1685290"/>
            <a:ext cx="11163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 dirty="0" err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项目背景：让大模型自动完成多源数据分析</a:t>
            </a:r>
            <a:endParaRPr sz="2100" b="1" dirty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6" name="正文-6"/>
          <p:cNvSpPr>
            <a:spLocks noGrp="1"/>
          </p:cNvSpPr>
          <p:nvPr/>
        </p:nvSpPr>
        <p:spPr>
          <a:xfrm>
            <a:off x="545465" y="2142490"/>
            <a:ext cx="11075035" cy="12757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实际的数据分析需要人工查找文件、理解业务规则、整理数据并编写查询或计算程序。信息分散在表格、数据库、文档和视频中时，还要跨文件寻找证据并关联信息。KDD Cup 2026 Data Agent 赛道将这一过程设为</a:t>
            </a:r>
            <a:r>
              <a:rPr sz="16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自动化任务</a:t>
            </a: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：给定自然语言问题和数据目录，系统需要自主发现相关数据、选择工具处理与计算，</a:t>
            </a:r>
            <a:r>
              <a:rPr sz="16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并输出结果表</a:t>
            </a: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。例如，统计地区销售额，需要整合 CSV 中的订单金额、文档中的门店地区和业务规则中的有效订单定义。</a:t>
            </a:r>
          </a:p>
        </p:txBody>
      </p:sp>
      <p:sp>
        <p:nvSpPr>
          <p:cNvPr id="7" name="正文-7"/>
          <p:cNvSpPr>
            <a:spLocks noGrp="1"/>
          </p:cNvSpPr>
          <p:nvPr/>
        </p:nvSpPr>
        <p:spPr>
          <a:xfrm>
            <a:off x="514350" y="3499485"/>
            <a:ext cx="111633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本次作业：开发或改进一套基于 LLM 的 Data Agent</a:t>
            </a:r>
          </a:p>
        </p:txBody>
      </p:sp>
      <p:sp>
        <p:nvSpPr>
          <p:cNvPr id="8" name="正文-8"/>
          <p:cNvSpPr>
            <a:spLocks noGrp="1"/>
          </p:cNvSpPr>
          <p:nvPr/>
        </p:nvSpPr>
        <p:spPr>
          <a:xfrm>
            <a:off x="571500" y="3894455"/>
            <a:ext cx="11049000" cy="958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输入一道自然语言问题及其数据目录，由模型选择下一步操作，程序调用工具读取、处理和计算。</a:t>
            </a:r>
          </a:p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工具把结果或错误返回模型，系统继续分析，最终自动生成该题的 prediction.csv。</a:t>
            </a:r>
          </a:p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本课程使用公开答案对应的 60 题</a:t>
            </a:r>
            <a:r>
              <a: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，以同一套系统批量运行，完成统一评测、错误分析和系统改进。</a:t>
            </a:r>
          </a:p>
        </p:txBody>
      </p:sp>
      <p:graphicFrame>
        <p:nvGraphicFramePr>
          <p:cNvPr id="9" name="表格 8"/>
          <p:cNvGraphicFramePr/>
          <p:nvPr/>
        </p:nvGraphicFramePr>
        <p:xfrm>
          <a:off x="514350" y="4942840"/>
          <a:ext cx="11163300" cy="913130"/>
        </p:xfrm>
        <a:graphic>
          <a:graphicData uri="http://schemas.openxmlformats.org/drawingml/2006/table">
            <a:tbl>
              <a:tblPr/>
              <a:tblGrid>
                <a:gridCol w="623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4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445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系统需要完成的核心工作</a:t>
                      </a:r>
                    </a:p>
                  </a:txBody>
                  <a:tcPr marL="95250" marR="95250" marT="95250" marB="95250" anchor="ctr"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最终要证明什么</a:t>
                      </a:r>
                    </a:p>
                  </a:txBody>
                  <a:tcPr marL="95250" marR="95250" marT="95250" marB="95250" anchor="ctr"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170"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理解任务，发现数据，调用工具，计算并输出结果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程序能够运行，结果有依据，实验能够复现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正文-9"/>
          <p:cNvSpPr>
            <a:spLocks noGrp="1"/>
          </p:cNvSpPr>
          <p:nvPr/>
        </p:nvSpPr>
        <p:spPr>
          <a:xfrm>
            <a:off x="514350" y="6028690"/>
            <a:ext cx="111633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425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425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可通过 API 调用现成大语言模型，无须自行训练。数据、参考代码和校内模型服务入口见资料页。</a:t>
            </a:r>
          </a:p>
        </p:txBody>
      </p:sp>
      <p:sp>
        <p:nvSpPr>
          <p:cNvPr id="20" name="助教联系方式"/>
          <p:cNvSpPr>
            <a:spLocks noGrp="1"/>
          </p:cNvSpPr>
          <p:nvPr/>
        </p:nvSpPr>
        <p:spPr>
          <a:xfrm>
            <a:off x="514350" y="6386195"/>
            <a:ext cx="9810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3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助教联系方式：徐夏微  19970570287@163.com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14350" y="285750"/>
            <a:ext cx="11096625" cy="5715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30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任务输入与结果输出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14350" y="781050"/>
            <a:ext cx="11482705" cy="34226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lang="zh-CN" altLang="en-US"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开发通用</a:t>
            </a:r>
            <a:r>
              <a:rPr lang="en-US" altLang="zh-CN"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Data Agent</a:t>
            </a:r>
            <a:r>
              <a:rPr lang="zh-CN" altLang="en-US"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，自动读取任务问题与多源数据，完成分析并生成预测结果；使用统一评测程序检验指定的</a:t>
            </a:r>
            <a:r>
              <a:rPr lang="en-US" altLang="zh-CN"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60 </a:t>
            </a:r>
            <a:r>
              <a:rPr lang="zh-CN" altLang="en-US" sz="160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道任务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514350" y="1188720"/>
            <a:ext cx="5238750" cy="33337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输入：任务问题与多源数据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06400" y="4565650"/>
            <a:ext cx="3221355" cy="32893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20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输出：每道任务的预测表格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2857500" y="1763395"/>
            <a:ext cx="2905125" cy="6667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task.json</a:t>
            </a:r>
          </a:p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读取任务编号与自然语言问题。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2857500" y="2534920"/>
            <a:ext cx="2905125" cy="16097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context/</a:t>
            </a:r>
          </a:p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读取 CSV、JSON、数据库、</a:t>
            </a:r>
          </a:p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文档或视频等任务附带数据。</a:t>
            </a:r>
          </a:p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检查字段、单位与关联关系。</a:t>
            </a:r>
          </a:p>
          <a:p>
            <a:pPr>
              <a:lnSpc>
                <a:spcPct val="112000"/>
              </a:lnSpc>
            </a:pP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按题目完成查询、计算与整合。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2857500" y="4004945"/>
            <a:ext cx="2905125" cy="3143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130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数据类型以实际任务为准。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525125" y="6524625"/>
            <a:ext cx="952500" cy="20955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sz="110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02 / 09</a:t>
            </a: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400" y="1626235"/>
            <a:ext cx="2058670" cy="283781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rcRect b="56423"/>
          <a:stretch>
            <a:fillRect/>
          </a:stretch>
        </p:blipFill>
        <p:spPr>
          <a:xfrm>
            <a:off x="227330" y="4960620"/>
            <a:ext cx="4896485" cy="165163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5558790" y="1167130"/>
          <a:ext cx="6452870" cy="3266440"/>
        </p:xfrm>
        <a:graphic>
          <a:graphicData uri="http://schemas.openxmlformats.org/drawingml/2006/table">
            <a:tbl>
              <a:tblPr/>
              <a:tblGrid>
                <a:gridCol w="2298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4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0535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文件或目录</a:t>
                      </a:r>
                      <a:r>
                        <a:rPr lang="en-US"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  </a:t>
                      </a:r>
                    </a:p>
                  </a:txBody>
                  <a:tcPr marL="95250" marR="95250" marT="38100" marB="38100" anchor="ctr"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用途与处理方式</a:t>
                      </a:r>
                    </a:p>
                  </a:txBody>
                  <a:tcPr marL="95250" marR="95250" marT="38100" marB="38100" anchor="ctr"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6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task.json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记录题号与自然语言问题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context/csv、json、db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读取表格或数据库，检查字段、记录与关联键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18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context/doc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读取 Markdown / PDF，提取实体、属性业务条件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31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context/video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结合语音转写和相关画面，取得题目需要的证据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context/knowledge.md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若存在，读取背景、单位与统计口径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output/task_N/gold.csv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公开参考答案，用于运行后的检查和评测</a:t>
                      </a:r>
                    </a:p>
                  </a:txBody>
                  <a:tcPr marL="95250" marR="9525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53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evaluation/configs/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同一批60题的评测配置，定义类型、精度和行序</a:t>
                      </a:r>
                    </a:p>
                  </a:txBody>
                  <a:tcPr marL="95250" marR="95250" marT="38100" marB="3810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Text 9"/>
          <p:cNvSpPr txBox="1"/>
          <p:nvPr/>
        </p:nvSpPr>
        <p:spPr>
          <a:xfrm>
            <a:off x="3647440" y="4580255"/>
            <a:ext cx="3454400" cy="31432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lang="zh-CN" alt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保存</a:t>
            </a:r>
            <a:r>
              <a:rPr 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output</a:t>
            </a: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task_N/prediction.csv</a:t>
            </a:r>
            <a:endParaRPr sz="150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12000"/>
              </a:lnSpc>
            </a:pPr>
            <a:endParaRPr sz="150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9" name="Text 5"/>
          <p:cNvSpPr txBox="1"/>
          <p:nvPr/>
        </p:nvSpPr>
        <p:spPr>
          <a:xfrm>
            <a:off x="7245985" y="4573270"/>
            <a:ext cx="3221355" cy="32893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lang="zh-CN" sz="20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输入输出与独立评测流程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840" y="5013325"/>
            <a:ext cx="3371215" cy="1671320"/>
          </a:xfrm>
          <a:prstGeom prst="rect">
            <a:avLst/>
          </a:prstGeom>
        </p:spPr>
      </p:pic>
      <p:sp>
        <p:nvSpPr>
          <p:cNvPr id="21" name="Text 9"/>
          <p:cNvSpPr txBox="1"/>
          <p:nvPr/>
        </p:nvSpPr>
        <p:spPr>
          <a:xfrm>
            <a:off x="5304790" y="5300980"/>
            <a:ext cx="1634490" cy="1176655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lang="zh-CN" alt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参考答案仅在评测阶段使用，不参与</a:t>
            </a:r>
            <a:r>
              <a:rPr lang="en-US" altLang="zh-CN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Agent </a:t>
            </a:r>
            <a:r>
              <a:rPr lang="zh-CN" alt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解题，保证评测过程独立。</a:t>
            </a:r>
          </a:p>
        </p:txBody>
      </p:sp>
      <p:sp>
        <p:nvSpPr>
          <p:cNvPr id="22" name="Text 9"/>
          <p:cNvSpPr txBox="1"/>
          <p:nvPr/>
        </p:nvSpPr>
        <p:spPr>
          <a:xfrm>
            <a:off x="3917950" y="1228725"/>
            <a:ext cx="1550670" cy="29337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12000"/>
              </a:lnSpc>
            </a:pPr>
            <a:r>
              <a:rPr 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input</a:t>
            </a:r>
            <a:r>
              <a:rPr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/</a:t>
            </a:r>
            <a:r>
              <a:rPr lang="en-US" sz="15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task_N/</a:t>
            </a:r>
            <a:endParaRPr sz="150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原图重建-1"/>
          <p:cNvSpPr>
            <a:spLocks noGrp="1"/>
          </p:cNvSpPr>
          <p:nvPr/>
        </p:nvSpPr>
        <p:spPr>
          <a:xfrm>
            <a:off x="350010" y="116608"/>
            <a:ext cx="11484689" cy="539311"/>
          </a:xfrm>
          <a:prstGeom prst="roundRect">
            <a:avLst>
              <a:gd name="adj" fmla="val 1352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4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304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304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多源异构数据</a:t>
            </a:r>
            <a:r>
              <a:rPr lang="zh-CN" sz="304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处理</a:t>
            </a:r>
          </a:p>
        </p:txBody>
      </p:sp>
      <p:sp>
        <p:nvSpPr>
          <p:cNvPr id="2" name="原图重建-2"/>
          <p:cNvSpPr>
            <a:spLocks noGrp="1"/>
          </p:cNvSpPr>
          <p:nvPr/>
        </p:nvSpPr>
        <p:spPr>
          <a:xfrm>
            <a:off x="350010" y="584164"/>
            <a:ext cx="11484689" cy="393552"/>
          </a:xfrm>
          <a:prstGeom prst="roundRect">
            <a:avLst>
              <a:gd name="adj" fmla="val 1852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lnSpc>
                <a:spcPct val="120000"/>
              </a:lnSpc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真实任务中的信息可能分散在不同格式的文件中。Data Agent 需要根据问题自动选择合适的工具，</a:t>
            </a:r>
          </a:p>
          <a:p>
            <a:pPr algn="l">
              <a:lnSpc>
                <a:spcPct val="120000"/>
              </a:lnSpc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对数据进行读取、抽取、清洗、整合和计算，将原始数据转化为能够回答问题的结构化信息。</a:t>
            </a:r>
          </a:p>
        </p:txBody>
      </p:sp>
      <p:sp>
        <p:nvSpPr>
          <p:cNvPr id="3" name="原图重建-3"/>
          <p:cNvSpPr>
            <a:spLocks noGrp="1"/>
          </p:cNvSpPr>
          <p:nvPr/>
        </p:nvSpPr>
        <p:spPr>
          <a:xfrm>
            <a:off x="277091" y="1195231"/>
            <a:ext cx="2085474" cy="393552"/>
          </a:xfrm>
          <a:prstGeom prst="roundRect">
            <a:avLst>
              <a:gd name="adj" fmla="val 18528"/>
            </a:avLst>
          </a:prstGeom>
          <a:solidFill>
            <a:srgbClr val="18314A"/>
          </a:solidFill>
          <a:ln w="0">
            <a:noFill/>
          </a:ln>
        </p:spPr>
      </p:sp>
      <p:sp>
        <p:nvSpPr>
          <p:cNvPr id="4" name="原图重建-4"/>
          <p:cNvSpPr>
            <a:spLocks noGrp="1"/>
          </p:cNvSpPr>
          <p:nvPr/>
        </p:nvSpPr>
        <p:spPr>
          <a:xfrm>
            <a:off x="335426" y="1282687"/>
            <a:ext cx="1968804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数据类型</a:t>
            </a:r>
          </a:p>
        </p:txBody>
      </p:sp>
      <p:sp>
        <p:nvSpPr>
          <p:cNvPr id="5" name="原图重建-5"/>
          <p:cNvSpPr>
            <a:spLocks noGrp="1"/>
          </p:cNvSpPr>
          <p:nvPr/>
        </p:nvSpPr>
        <p:spPr>
          <a:xfrm>
            <a:off x="2362565" y="1195231"/>
            <a:ext cx="3791770" cy="393552"/>
          </a:xfrm>
          <a:prstGeom prst="roundRect">
            <a:avLst>
              <a:gd name="adj" fmla="val 18528"/>
            </a:avLst>
          </a:prstGeom>
          <a:solidFill>
            <a:srgbClr val="18314A"/>
          </a:solidFill>
          <a:ln w="0">
            <a:noFill/>
          </a:ln>
        </p:spPr>
      </p:sp>
      <p:sp>
        <p:nvSpPr>
          <p:cNvPr id="6" name="原图重建-6"/>
          <p:cNvSpPr>
            <a:spLocks noGrp="1"/>
          </p:cNvSpPr>
          <p:nvPr/>
        </p:nvSpPr>
        <p:spPr>
          <a:xfrm>
            <a:off x="2420900" y="1282687"/>
            <a:ext cx="3675100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示例（简化展示）</a:t>
            </a:r>
          </a:p>
        </p:txBody>
      </p:sp>
      <p:sp>
        <p:nvSpPr>
          <p:cNvPr id="7" name="原图重建-7"/>
          <p:cNvSpPr>
            <a:spLocks noGrp="1"/>
          </p:cNvSpPr>
          <p:nvPr/>
        </p:nvSpPr>
        <p:spPr>
          <a:xfrm>
            <a:off x="6154335" y="1195231"/>
            <a:ext cx="2945914" cy="393552"/>
          </a:xfrm>
          <a:prstGeom prst="roundRect">
            <a:avLst>
              <a:gd name="adj" fmla="val 18528"/>
            </a:avLst>
          </a:prstGeom>
          <a:solidFill>
            <a:srgbClr val="18314A"/>
          </a:solidFill>
          <a:ln w="0">
            <a:noFill/>
          </a:ln>
        </p:spPr>
      </p:sp>
      <p:sp>
        <p:nvSpPr>
          <p:cNvPr id="8" name="原图重建-8"/>
          <p:cNvSpPr>
            <a:spLocks noGrp="1"/>
          </p:cNvSpPr>
          <p:nvPr/>
        </p:nvSpPr>
        <p:spPr>
          <a:xfrm>
            <a:off x="6212670" y="1282687"/>
            <a:ext cx="2829244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主要特点与挑战</a:t>
            </a:r>
          </a:p>
        </p:txBody>
      </p:sp>
      <p:sp>
        <p:nvSpPr>
          <p:cNvPr id="9" name="原图重建-9"/>
          <p:cNvSpPr>
            <a:spLocks noGrp="1"/>
          </p:cNvSpPr>
          <p:nvPr/>
        </p:nvSpPr>
        <p:spPr>
          <a:xfrm>
            <a:off x="9100249" y="1195231"/>
            <a:ext cx="2829244" cy="393552"/>
          </a:xfrm>
          <a:prstGeom prst="roundRect">
            <a:avLst>
              <a:gd name="adj" fmla="val 18528"/>
            </a:avLst>
          </a:prstGeom>
          <a:solidFill>
            <a:srgbClr val="18314A"/>
          </a:solidFill>
          <a:ln w="0">
            <a:noFill/>
          </a:ln>
        </p:spPr>
      </p:sp>
      <p:sp>
        <p:nvSpPr>
          <p:cNvPr id="10" name="原图重建-10"/>
          <p:cNvSpPr>
            <a:spLocks noGrp="1"/>
          </p:cNvSpPr>
          <p:nvPr/>
        </p:nvSpPr>
        <p:spPr>
          <a:xfrm>
            <a:off x="9158584" y="1282687"/>
            <a:ext cx="2712574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335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常见处理方式（可选）</a:t>
            </a:r>
          </a:p>
        </p:txBody>
      </p:sp>
      <p:sp>
        <p:nvSpPr>
          <p:cNvPr id="11" name="原图重建-11"/>
          <p:cNvSpPr>
            <a:spLocks noGrp="1"/>
          </p:cNvSpPr>
          <p:nvPr/>
        </p:nvSpPr>
        <p:spPr>
          <a:xfrm>
            <a:off x="277091" y="1632510"/>
            <a:ext cx="11637818" cy="1115063"/>
          </a:xfrm>
          <a:prstGeom prst="roundRect">
            <a:avLst>
              <a:gd name="adj" fmla="val 6539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12" name="原图重建-12"/>
          <p:cNvSpPr>
            <a:spLocks noGrp="1"/>
          </p:cNvSpPr>
          <p:nvPr/>
        </p:nvSpPr>
        <p:spPr>
          <a:xfrm>
            <a:off x="277091" y="1632510"/>
            <a:ext cx="2085474" cy="1115063"/>
          </a:xfrm>
          <a:prstGeom prst="roundRect">
            <a:avLst>
              <a:gd name="adj" fmla="val 6539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4" name="原图重建-13"/>
          <p:cNvSpPr>
            <a:spLocks noGrp="1"/>
          </p:cNvSpPr>
          <p:nvPr/>
        </p:nvSpPr>
        <p:spPr>
          <a:xfrm>
            <a:off x="713129" y="2037263"/>
            <a:ext cx="1290660" cy="306096"/>
          </a:xfrm>
          <a:prstGeom prst="roundRect">
            <a:avLst>
              <a:gd name="adj" fmla="val 238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CSV</a:t>
            </a:r>
          </a:p>
        </p:txBody>
      </p:sp>
      <p:sp>
        <p:nvSpPr>
          <p:cNvPr id="16" name="原图重建-15"/>
          <p:cNvSpPr>
            <a:spLocks noGrp="1"/>
          </p:cNvSpPr>
          <p:nvPr/>
        </p:nvSpPr>
        <p:spPr>
          <a:xfrm>
            <a:off x="6373091" y="1741830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7" name="原图重建-16"/>
          <p:cNvSpPr>
            <a:spLocks noGrp="1"/>
          </p:cNvSpPr>
          <p:nvPr/>
        </p:nvSpPr>
        <p:spPr>
          <a:xfrm>
            <a:off x="6569971" y="1741830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表格结构清晰</a:t>
            </a:r>
          </a:p>
        </p:txBody>
      </p:sp>
      <p:sp>
        <p:nvSpPr>
          <p:cNvPr id="18" name="原图重建-17"/>
          <p:cNvSpPr>
            <a:spLocks noGrp="1"/>
          </p:cNvSpPr>
          <p:nvPr/>
        </p:nvSpPr>
        <p:spPr>
          <a:xfrm>
            <a:off x="6373091" y="1976868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9" name="原图重建-18"/>
          <p:cNvSpPr>
            <a:spLocks noGrp="1"/>
          </p:cNvSpPr>
          <p:nvPr/>
        </p:nvSpPr>
        <p:spPr>
          <a:xfrm>
            <a:off x="6569971" y="1976868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可能存在缺失值、重复记录</a:t>
            </a:r>
          </a:p>
        </p:txBody>
      </p:sp>
      <p:sp>
        <p:nvSpPr>
          <p:cNvPr id="20" name="原图重建-19"/>
          <p:cNvSpPr>
            <a:spLocks noGrp="1"/>
          </p:cNvSpPr>
          <p:nvPr/>
        </p:nvSpPr>
        <p:spPr>
          <a:xfrm>
            <a:off x="6373091" y="2211905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1" name="原图重建-20"/>
          <p:cNvSpPr>
            <a:spLocks noGrp="1"/>
          </p:cNvSpPr>
          <p:nvPr/>
        </p:nvSpPr>
        <p:spPr>
          <a:xfrm>
            <a:off x="6569971" y="2211905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字段名称或类型不一致</a:t>
            </a:r>
          </a:p>
        </p:txBody>
      </p:sp>
      <p:sp>
        <p:nvSpPr>
          <p:cNvPr id="22" name="原图重建-21"/>
          <p:cNvSpPr>
            <a:spLocks noGrp="1"/>
          </p:cNvSpPr>
          <p:nvPr/>
        </p:nvSpPr>
        <p:spPr>
          <a:xfrm>
            <a:off x="6373091" y="2446943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3" name="原图重建-22"/>
          <p:cNvSpPr>
            <a:spLocks noGrp="1"/>
          </p:cNvSpPr>
          <p:nvPr/>
        </p:nvSpPr>
        <p:spPr>
          <a:xfrm>
            <a:off x="6569971" y="2446943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可能缺少部分所需字段</a:t>
            </a:r>
          </a:p>
        </p:txBody>
      </p:sp>
      <p:sp>
        <p:nvSpPr>
          <p:cNvPr id="24" name="原图重建-23"/>
          <p:cNvSpPr>
            <a:spLocks noGrp="1"/>
          </p:cNvSpPr>
          <p:nvPr/>
        </p:nvSpPr>
        <p:spPr>
          <a:xfrm>
            <a:off x="9304421" y="1741830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5" name="原图重建-24"/>
          <p:cNvSpPr>
            <a:spLocks noGrp="1"/>
          </p:cNvSpPr>
          <p:nvPr/>
        </p:nvSpPr>
        <p:spPr>
          <a:xfrm>
            <a:off x="9501301" y="1741830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查看字段和数据样例</a:t>
            </a:r>
          </a:p>
        </p:txBody>
      </p:sp>
      <p:sp>
        <p:nvSpPr>
          <p:cNvPr id="26" name="原图重建-25"/>
          <p:cNvSpPr>
            <a:spLocks noGrp="1"/>
          </p:cNvSpPr>
          <p:nvPr/>
        </p:nvSpPr>
        <p:spPr>
          <a:xfrm>
            <a:off x="9304421" y="1976868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7" name="原图重建-26"/>
          <p:cNvSpPr>
            <a:spLocks noGrp="1"/>
          </p:cNvSpPr>
          <p:nvPr/>
        </p:nvSpPr>
        <p:spPr>
          <a:xfrm>
            <a:off x="9501301" y="1976868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按业务规则处理缺失值</a:t>
            </a:r>
          </a:p>
        </p:txBody>
      </p:sp>
      <p:sp>
        <p:nvSpPr>
          <p:cNvPr id="28" name="原图重建-27"/>
          <p:cNvSpPr>
            <a:spLocks noGrp="1"/>
          </p:cNvSpPr>
          <p:nvPr/>
        </p:nvSpPr>
        <p:spPr>
          <a:xfrm>
            <a:off x="9304421" y="2211905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9" name="原图重建-28"/>
          <p:cNvSpPr>
            <a:spLocks noGrp="1"/>
          </p:cNvSpPr>
          <p:nvPr/>
        </p:nvSpPr>
        <p:spPr>
          <a:xfrm>
            <a:off x="9501301" y="2211905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类型转换，按业务规则去重</a:t>
            </a:r>
          </a:p>
        </p:txBody>
      </p:sp>
      <p:sp>
        <p:nvSpPr>
          <p:cNvPr id="30" name="原图重建-29"/>
          <p:cNvSpPr>
            <a:spLocks noGrp="1"/>
          </p:cNvSpPr>
          <p:nvPr/>
        </p:nvSpPr>
        <p:spPr>
          <a:xfrm>
            <a:off x="9304421" y="2446943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1" name="原图重建-30"/>
          <p:cNvSpPr>
            <a:spLocks noGrp="1"/>
          </p:cNvSpPr>
          <p:nvPr/>
        </p:nvSpPr>
        <p:spPr>
          <a:xfrm>
            <a:off x="9501301" y="2446943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筛选、分组聚合、统计计算</a:t>
            </a:r>
          </a:p>
        </p:txBody>
      </p:sp>
      <p:sp>
        <p:nvSpPr>
          <p:cNvPr id="32" name="原图重建-31"/>
          <p:cNvSpPr>
            <a:spLocks noGrp="1"/>
          </p:cNvSpPr>
          <p:nvPr/>
        </p:nvSpPr>
        <p:spPr>
          <a:xfrm>
            <a:off x="277091" y="2791301"/>
            <a:ext cx="11637818" cy="1115063"/>
          </a:xfrm>
          <a:prstGeom prst="roundRect">
            <a:avLst>
              <a:gd name="adj" fmla="val 6539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33" name="原图重建-32"/>
          <p:cNvSpPr>
            <a:spLocks noGrp="1"/>
          </p:cNvSpPr>
          <p:nvPr/>
        </p:nvSpPr>
        <p:spPr>
          <a:xfrm>
            <a:off x="277091" y="2791301"/>
            <a:ext cx="2085474" cy="1115063"/>
          </a:xfrm>
          <a:prstGeom prst="roundRect">
            <a:avLst>
              <a:gd name="adj" fmla="val 6539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35" name="原图重建-33"/>
          <p:cNvSpPr>
            <a:spLocks noGrp="1"/>
          </p:cNvSpPr>
          <p:nvPr/>
        </p:nvSpPr>
        <p:spPr>
          <a:xfrm>
            <a:off x="713129" y="3196054"/>
            <a:ext cx="1290660" cy="306096"/>
          </a:xfrm>
          <a:prstGeom prst="roundRect">
            <a:avLst>
              <a:gd name="adj" fmla="val 238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JSON</a:t>
            </a:r>
          </a:p>
        </p:txBody>
      </p:sp>
      <p:sp>
        <p:nvSpPr>
          <p:cNvPr id="37" name="原图重建-35"/>
          <p:cNvSpPr>
            <a:spLocks noGrp="1"/>
          </p:cNvSpPr>
          <p:nvPr/>
        </p:nvSpPr>
        <p:spPr>
          <a:xfrm>
            <a:off x="6373091" y="2900621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8" name="原图重建-36"/>
          <p:cNvSpPr>
            <a:spLocks noGrp="1"/>
          </p:cNvSpPr>
          <p:nvPr/>
        </p:nvSpPr>
        <p:spPr>
          <a:xfrm>
            <a:off x="6569971" y="2900621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存在嵌套结构（对象、数组）</a:t>
            </a:r>
          </a:p>
        </p:txBody>
      </p:sp>
      <p:sp>
        <p:nvSpPr>
          <p:cNvPr id="39" name="原图重建-37"/>
          <p:cNvSpPr>
            <a:spLocks noGrp="1"/>
          </p:cNvSpPr>
          <p:nvPr/>
        </p:nvSpPr>
        <p:spPr>
          <a:xfrm>
            <a:off x="6373091" y="3135658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0" name="原图重建-38"/>
          <p:cNvSpPr>
            <a:spLocks noGrp="1"/>
          </p:cNvSpPr>
          <p:nvPr/>
        </p:nvSpPr>
        <p:spPr>
          <a:xfrm>
            <a:off x="6569971" y="3135658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结构可能不规则</a:t>
            </a:r>
          </a:p>
        </p:txBody>
      </p:sp>
      <p:sp>
        <p:nvSpPr>
          <p:cNvPr id="41" name="原图重建-39"/>
          <p:cNvSpPr>
            <a:spLocks noGrp="1"/>
          </p:cNvSpPr>
          <p:nvPr/>
        </p:nvSpPr>
        <p:spPr>
          <a:xfrm>
            <a:off x="6373091" y="3370696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2" name="原图重建-40"/>
          <p:cNvSpPr>
            <a:spLocks noGrp="1"/>
          </p:cNvSpPr>
          <p:nvPr/>
        </p:nvSpPr>
        <p:spPr>
          <a:xfrm>
            <a:off x="6569971" y="3370696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需要从多层级中提取关键信息</a:t>
            </a:r>
          </a:p>
        </p:txBody>
      </p:sp>
      <p:sp>
        <p:nvSpPr>
          <p:cNvPr id="43" name="原图重建-41"/>
          <p:cNvSpPr>
            <a:spLocks noGrp="1"/>
          </p:cNvSpPr>
          <p:nvPr/>
        </p:nvSpPr>
        <p:spPr>
          <a:xfrm>
            <a:off x="6373091" y="3605734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4" name="原图重建-42"/>
          <p:cNvSpPr>
            <a:spLocks noGrp="1"/>
          </p:cNvSpPr>
          <p:nvPr/>
        </p:nvSpPr>
        <p:spPr>
          <a:xfrm>
            <a:off x="6569971" y="3605734"/>
            <a:ext cx="250840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字段名称和层级关系不固定</a:t>
            </a:r>
          </a:p>
        </p:txBody>
      </p:sp>
      <p:sp>
        <p:nvSpPr>
          <p:cNvPr id="45" name="原图重建-43"/>
          <p:cNvSpPr>
            <a:spLocks noGrp="1"/>
          </p:cNvSpPr>
          <p:nvPr/>
        </p:nvSpPr>
        <p:spPr>
          <a:xfrm>
            <a:off x="9304421" y="2900621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6" name="原图重建-44"/>
          <p:cNvSpPr>
            <a:spLocks noGrp="1"/>
          </p:cNvSpPr>
          <p:nvPr/>
        </p:nvSpPr>
        <p:spPr>
          <a:xfrm>
            <a:off x="9501301" y="2900621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解析 JSON 结构</a:t>
            </a:r>
          </a:p>
        </p:txBody>
      </p:sp>
      <p:sp>
        <p:nvSpPr>
          <p:cNvPr id="47" name="原图重建-45"/>
          <p:cNvSpPr>
            <a:spLocks noGrp="1"/>
          </p:cNvSpPr>
          <p:nvPr/>
        </p:nvSpPr>
        <p:spPr>
          <a:xfrm>
            <a:off x="9304421" y="3135658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8" name="原图重建-46"/>
          <p:cNvSpPr>
            <a:spLocks noGrp="1"/>
          </p:cNvSpPr>
          <p:nvPr/>
        </p:nvSpPr>
        <p:spPr>
          <a:xfrm>
            <a:off x="9501301" y="3135658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提取指定字段</a:t>
            </a:r>
          </a:p>
        </p:txBody>
      </p:sp>
      <p:sp>
        <p:nvSpPr>
          <p:cNvPr id="49" name="原图重建-47"/>
          <p:cNvSpPr>
            <a:spLocks noGrp="1"/>
          </p:cNvSpPr>
          <p:nvPr/>
        </p:nvSpPr>
        <p:spPr>
          <a:xfrm>
            <a:off x="9304421" y="3370696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0" name="原图重建-48"/>
          <p:cNvSpPr>
            <a:spLocks noGrp="1"/>
          </p:cNvSpPr>
          <p:nvPr/>
        </p:nvSpPr>
        <p:spPr>
          <a:xfrm>
            <a:off x="9501301" y="3370696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展开嵌套对象或数组</a:t>
            </a:r>
          </a:p>
        </p:txBody>
      </p:sp>
      <p:sp>
        <p:nvSpPr>
          <p:cNvPr id="51" name="原图重建-49"/>
          <p:cNvSpPr>
            <a:spLocks noGrp="1"/>
          </p:cNvSpPr>
          <p:nvPr/>
        </p:nvSpPr>
        <p:spPr>
          <a:xfrm>
            <a:off x="9304421" y="3605734"/>
            <a:ext cx="131254" cy="23503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2" name="原图重建-50"/>
          <p:cNvSpPr>
            <a:spLocks noGrp="1"/>
          </p:cNvSpPr>
          <p:nvPr/>
        </p:nvSpPr>
        <p:spPr>
          <a:xfrm>
            <a:off x="9501301" y="3605734"/>
            <a:ext cx="2391732" cy="256902"/>
          </a:xfrm>
          <a:prstGeom prst="roundRect">
            <a:avLst>
              <a:gd name="adj" fmla="val 2838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转换为结构化表或字典</a:t>
            </a:r>
          </a:p>
        </p:txBody>
      </p:sp>
      <p:sp>
        <p:nvSpPr>
          <p:cNvPr id="53" name="原图重建-51"/>
          <p:cNvSpPr>
            <a:spLocks noGrp="1"/>
          </p:cNvSpPr>
          <p:nvPr/>
        </p:nvSpPr>
        <p:spPr>
          <a:xfrm>
            <a:off x="277091" y="3957379"/>
            <a:ext cx="11637818" cy="1020319"/>
          </a:xfrm>
          <a:prstGeom prst="roundRect">
            <a:avLst>
              <a:gd name="adj" fmla="val 7147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54" name="原图重建-52"/>
          <p:cNvSpPr>
            <a:spLocks noGrp="1"/>
          </p:cNvSpPr>
          <p:nvPr/>
        </p:nvSpPr>
        <p:spPr>
          <a:xfrm>
            <a:off x="277091" y="3957379"/>
            <a:ext cx="2085474" cy="1020319"/>
          </a:xfrm>
          <a:prstGeom prst="roundRect">
            <a:avLst>
              <a:gd name="adj" fmla="val 7147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56" name="原图重建-53"/>
          <p:cNvSpPr>
            <a:spLocks noGrp="1"/>
          </p:cNvSpPr>
          <p:nvPr/>
        </p:nvSpPr>
        <p:spPr>
          <a:xfrm>
            <a:off x="713129" y="4362132"/>
            <a:ext cx="1290660" cy="306096"/>
          </a:xfrm>
          <a:prstGeom prst="roundRect">
            <a:avLst>
              <a:gd name="adj" fmla="val 238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数据库</a:t>
            </a:r>
          </a:p>
        </p:txBody>
      </p:sp>
      <p:sp>
        <p:nvSpPr>
          <p:cNvPr id="58" name="原图重建-55"/>
          <p:cNvSpPr>
            <a:spLocks noGrp="1"/>
          </p:cNvSpPr>
          <p:nvPr/>
        </p:nvSpPr>
        <p:spPr>
          <a:xfrm>
            <a:off x="6373091" y="4066699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9" name="原图重建-56"/>
          <p:cNvSpPr>
            <a:spLocks noGrp="1"/>
          </p:cNvSpPr>
          <p:nvPr/>
        </p:nvSpPr>
        <p:spPr>
          <a:xfrm>
            <a:off x="6569971" y="4066699"/>
            <a:ext cx="250840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数据分布在多个表中</a:t>
            </a:r>
          </a:p>
        </p:txBody>
      </p:sp>
      <p:sp>
        <p:nvSpPr>
          <p:cNvPr id="60" name="原图重建-57"/>
          <p:cNvSpPr>
            <a:spLocks noGrp="1"/>
          </p:cNvSpPr>
          <p:nvPr/>
        </p:nvSpPr>
        <p:spPr>
          <a:xfrm>
            <a:off x="6373091" y="4278051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1" name="原图重建-58"/>
          <p:cNvSpPr>
            <a:spLocks noGrp="1"/>
          </p:cNvSpPr>
          <p:nvPr/>
        </p:nvSpPr>
        <p:spPr>
          <a:xfrm>
            <a:off x="6569971" y="4278051"/>
            <a:ext cx="250840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需要理解表结构和字段含义</a:t>
            </a:r>
          </a:p>
        </p:txBody>
      </p:sp>
      <p:sp>
        <p:nvSpPr>
          <p:cNvPr id="62" name="原图重建-59"/>
          <p:cNvSpPr>
            <a:spLocks noGrp="1"/>
          </p:cNvSpPr>
          <p:nvPr/>
        </p:nvSpPr>
        <p:spPr>
          <a:xfrm>
            <a:off x="6373091" y="4489403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3" name="原图重建-60"/>
          <p:cNvSpPr>
            <a:spLocks noGrp="1"/>
          </p:cNvSpPr>
          <p:nvPr/>
        </p:nvSpPr>
        <p:spPr>
          <a:xfrm>
            <a:off x="6569971" y="4489403"/>
            <a:ext cx="250840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可能存在主外键关系</a:t>
            </a:r>
          </a:p>
        </p:txBody>
      </p:sp>
      <p:sp>
        <p:nvSpPr>
          <p:cNvPr id="64" name="原图重建-61"/>
          <p:cNvSpPr>
            <a:spLocks noGrp="1"/>
          </p:cNvSpPr>
          <p:nvPr/>
        </p:nvSpPr>
        <p:spPr>
          <a:xfrm>
            <a:off x="6373091" y="4700755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5" name="原图重建-62"/>
          <p:cNvSpPr>
            <a:spLocks noGrp="1"/>
          </p:cNvSpPr>
          <p:nvPr/>
        </p:nvSpPr>
        <p:spPr>
          <a:xfrm>
            <a:off x="6569971" y="4700755"/>
            <a:ext cx="250840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需要进行多表关联查询</a:t>
            </a:r>
          </a:p>
        </p:txBody>
      </p:sp>
      <p:sp>
        <p:nvSpPr>
          <p:cNvPr id="66" name="原图重建-63"/>
          <p:cNvSpPr>
            <a:spLocks noGrp="1"/>
          </p:cNvSpPr>
          <p:nvPr/>
        </p:nvSpPr>
        <p:spPr>
          <a:xfrm>
            <a:off x="9304421" y="4066699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7" name="原图重建-64"/>
          <p:cNvSpPr>
            <a:spLocks noGrp="1"/>
          </p:cNvSpPr>
          <p:nvPr/>
        </p:nvSpPr>
        <p:spPr>
          <a:xfrm>
            <a:off x="9501301" y="4066699"/>
            <a:ext cx="239173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查看表结构（schema）</a:t>
            </a:r>
          </a:p>
        </p:txBody>
      </p:sp>
      <p:sp>
        <p:nvSpPr>
          <p:cNvPr id="68" name="原图重建-65"/>
          <p:cNvSpPr>
            <a:spLocks noGrp="1"/>
          </p:cNvSpPr>
          <p:nvPr/>
        </p:nvSpPr>
        <p:spPr>
          <a:xfrm>
            <a:off x="9304421" y="4278051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9" name="原图重建-66"/>
          <p:cNvSpPr>
            <a:spLocks noGrp="1"/>
          </p:cNvSpPr>
          <p:nvPr/>
        </p:nvSpPr>
        <p:spPr>
          <a:xfrm>
            <a:off x="9501301" y="4278051"/>
            <a:ext cx="239173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编写并执行 SQL 查询</a:t>
            </a:r>
          </a:p>
        </p:txBody>
      </p:sp>
      <p:sp>
        <p:nvSpPr>
          <p:cNvPr id="70" name="原图重建-67"/>
          <p:cNvSpPr>
            <a:spLocks noGrp="1"/>
          </p:cNvSpPr>
          <p:nvPr/>
        </p:nvSpPr>
        <p:spPr>
          <a:xfrm>
            <a:off x="9304421" y="4489403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71" name="原图重建-68"/>
          <p:cNvSpPr>
            <a:spLocks noGrp="1"/>
          </p:cNvSpPr>
          <p:nvPr/>
        </p:nvSpPr>
        <p:spPr>
          <a:xfrm>
            <a:off x="9501301" y="4489403"/>
            <a:ext cx="239173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多表关联（JOIN）</a:t>
            </a:r>
          </a:p>
        </p:txBody>
      </p:sp>
      <p:sp>
        <p:nvSpPr>
          <p:cNvPr id="72" name="原图重建-69"/>
          <p:cNvSpPr>
            <a:spLocks noGrp="1"/>
          </p:cNvSpPr>
          <p:nvPr/>
        </p:nvSpPr>
        <p:spPr>
          <a:xfrm>
            <a:off x="9304421" y="4700755"/>
            <a:ext cx="131254" cy="211352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73" name="原图重建-70"/>
          <p:cNvSpPr>
            <a:spLocks noGrp="1"/>
          </p:cNvSpPr>
          <p:nvPr/>
        </p:nvSpPr>
        <p:spPr>
          <a:xfrm>
            <a:off x="9501301" y="4700755"/>
            <a:ext cx="239173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筛选、分组、聚合等统计计算</a:t>
            </a:r>
          </a:p>
        </p:txBody>
      </p:sp>
      <p:sp>
        <p:nvSpPr>
          <p:cNvPr id="74" name="原图重建-71"/>
          <p:cNvSpPr>
            <a:spLocks noGrp="1"/>
          </p:cNvSpPr>
          <p:nvPr/>
        </p:nvSpPr>
        <p:spPr>
          <a:xfrm>
            <a:off x="277091" y="5028714"/>
            <a:ext cx="11637818" cy="896423"/>
          </a:xfrm>
          <a:prstGeom prst="roundRect">
            <a:avLst>
              <a:gd name="adj" fmla="val 8134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75" name="原图重建-72"/>
          <p:cNvSpPr>
            <a:spLocks noGrp="1"/>
          </p:cNvSpPr>
          <p:nvPr/>
        </p:nvSpPr>
        <p:spPr>
          <a:xfrm>
            <a:off x="277091" y="5028714"/>
            <a:ext cx="2085474" cy="896423"/>
          </a:xfrm>
          <a:prstGeom prst="roundRect">
            <a:avLst>
              <a:gd name="adj" fmla="val 8134"/>
            </a:avLst>
          </a:prstGeom>
          <a:solidFill>
            <a:srgbClr val="EEF3F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原图重建-73"/>
          <p:cNvSpPr>
            <a:spLocks noGrp="1"/>
          </p:cNvSpPr>
          <p:nvPr/>
        </p:nvSpPr>
        <p:spPr>
          <a:xfrm>
            <a:off x="407035" y="5361940"/>
            <a:ext cx="2162810" cy="349885"/>
          </a:xfrm>
          <a:prstGeom prst="roundRect">
            <a:avLst>
              <a:gd name="adj" fmla="val 238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0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PDF / Markdown</a:t>
            </a:r>
          </a:p>
        </p:txBody>
      </p:sp>
      <p:sp>
        <p:nvSpPr>
          <p:cNvPr id="79" name="原图重建-75"/>
          <p:cNvSpPr>
            <a:spLocks noGrp="1"/>
          </p:cNvSpPr>
          <p:nvPr/>
        </p:nvSpPr>
        <p:spPr>
          <a:xfrm>
            <a:off x="6373091" y="5138034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0" name="原图重建-76"/>
          <p:cNvSpPr>
            <a:spLocks noGrp="1"/>
          </p:cNvSpPr>
          <p:nvPr/>
        </p:nvSpPr>
        <p:spPr>
          <a:xfrm>
            <a:off x="6569971" y="5138034"/>
            <a:ext cx="250840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信息以自然语言形式存在</a:t>
            </a:r>
          </a:p>
        </p:txBody>
      </p:sp>
      <p:sp>
        <p:nvSpPr>
          <p:cNvPr id="81" name="原图重建-77"/>
          <p:cNvSpPr>
            <a:spLocks noGrp="1"/>
          </p:cNvSpPr>
          <p:nvPr/>
        </p:nvSpPr>
        <p:spPr>
          <a:xfrm>
            <a:off x="6373091" y="5318412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2" name="原图重建-78"/>
          <p:cNvSpPr>
            <a:spLocks noGrp="1"/>
          </p:cNvSpPr>
          <p:nvPr/>
        </p:nvSpPr>
        <p:spPr>
          <a:xfrm>
            <a:off x="6569971" y="5318412"/>
            <a:ext cx="250840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可能分散在不同段落或页面</a:t>
            </a:r>
          </a:p>
        </p:txBody>
      </p:sp>
      <p:sp>
        <p:nvSpPr>
          <p:cNvPr id="83" name="原图重建-79"/>
          <p:cNvSpPr>
            <a:spLocks noGrp="1"/>
          </p:cNvSpPr>
          <p:nvPr/>
        </p:nvSpPr>
        <p:spPr>
          <a:xfrm>
            <a:off x="6373091" y="5498790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4" name="原图重建-80"/>
          <p:cNvSpPr>
            <a:spLocks noGrp="1"/>
          </p:cNvSpPr>
          <p:nvPr/>
        </p:nvSpPr>
        <p:spPr>
          <a:xfrm>
            <a:off x="6569971" y="5498790"/>
            <a:ext cx="250840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可能包含表格、列表或图片</a:t>
            </a:r>
          </a:p>
        </p:txBody>
      </p:sp>
      <p:sp>
        <p:nvSpPr>
          <p:cNvPr id="85" name="原图重建-81"/>
          <p:cNvSpPr>
            <a:spLocks noGrp="1"/>
          </p:cNvSpPr>
          <p:nvPr/>
        </p:nvSpPr>
        <p:spPr>
          <a:xfrm>
            <a:off x="6373091" y="5679167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6" name="原图重建-82"/>
          <p:cNvSpPr>
            <a:spLocks noGrp="1"/>
          </p:cNvSpPr>
          <p:nvPr/>
        </p:nvSpPr>
        <p:spPr>
          <a:xfrm>
            <a:off x="6569971" y="5679167"/>
            <a:ext cx="250840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需要提取实体及其属性关系</a:t>
            </a:r>
          </a:p>
        </p:txBody>
      </p:sp>
      <p:sp>
        <p:nvSpPr>
          <p:cNvPr id="87" name="原图重建-83"/>
          <p:cNvSpPr>
            <a:spLocks noGrp="1"/>
          </p:cNvSpPr>
          <p:nvPr/>
        </p:nvSpPr>
        <p:spPr>
          <a:xfrm>
            <a:off x="9304421" y="5138034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8" name="原图重建-84"/>
          <p:cNvSpPr>
            <a:spLocks noGrp="1"/>
          </p:cNvSpPr>
          <p:nvPr/>
        </p:nvSpPr>
        <p:spPr>
          <a:xfrm>
            <a:off x="9501301" y="5138034"/>
            <a:ext cx="239173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读取文档内容</a:t>
            </a:r>
          </a:p>
        </p:txBody>
      </p:sp>
      <p:sp>
        <p:nvSpPr>
          <p:cNvPr id="89" name="原图重建-85"/>
          <p:cNvSpPr>
            <a:spLocks noGrp="1"/>
          </p:cNvSpPr>
          <p:nvPr/>
        </p:nvSpPr>
        <p:spPr>
          <a:xfrm>
            <a:off x="9304421" y="5318412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0" name="原图重建-86"/>
          <p:cNvSpPr>
            <a:spLocks noGrp="1"/>
          </p:cNvSpPr>
          <p:nvPr/>
        </p:nvSpPr>
        <p:spPr>
          <a:xfrm>
            <a:off x="9501301" y="5318412"/>
            <a:ext cx="239173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文本抽取（实体、属性、表格）</a:t>
            </a:r>
          </a:p>
        </p:txBody>
      </p:sp>
      <p:sp>
        <p:nvSpPr>
          <p:cNvPr id="91" name="原图重建-87"/>
          <p:cNvSpPr>
            <a:spLocks noGrp="1"/>
          </p:cNvSpPr>
          <p:nvPr/>
        </p:nvSpPr>
        <p:spPr>
          <a:xfrm>
            <a:off x="9304421" y="5498790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2" name="原图重建-88"/>
          <p:cNvSpPr>
            <a:spLocks noGrp="1"/>
          </p:cNvSpPr>
          <p:nvPr/>
        </p:nvSpPr>
        <p:spPr>
          <a:xfrm>
            <a:off x="9501301" y="5498790"/>
            <a:ext cx="239173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信息结构化整理</a:t>
            </a:r>
          </a:p>
        </p:txBody>
      </p:sp>
      <p:sp>
        <p:nvSpPr>
          <p:cNvPr id="93" name="原图重建-89"/>
          <p:cNvSpPr>
            <a:spLocks noGrp="1"/>
          </p:cNvSpPr>
          <p:nvPr/>
        </p:nvSpPr>
        <p:spPr>
          <a:xfrm>
            <a:off x="9304421" y="5679167"/>
            <a:ext cx="131254" cy="18037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4" name="原图重建-90"/>
          <p:cNvSpPr>
            <a:spLocks noGrp="1"/>
          </p:cNvSpPr>
          <p:nvPr/>
        </p:nvSpPr>
        <p:spPr>
          <a:xfrm>
            <a:off x="9501301" y="5679167"/>
            <a:ext cx="2391732" cy="202242"/>
          </a:xfrm>
          <a:prstGeom prst="roundRect">
            <a:avLst>
              <a:gd name="adj" fmla="val 3605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建立映射关系或知识库</a:t>
            </a:r>
          </a:p>
        </p:txBody>
      </p:sp>
      <p:sp>
        <p:nvSpPr>
          <p:cNvPr id="95" name="原图重建-91"/>
          <p:cNvSpPr>
            <a:spLocks noGrp="1"/>
          </p:cNvSpPr>
          <p:nvPr/>
        </p:nvSpPr>
        <p:spPr>
          <a:xfrm>
            <a:off x="277091" y="5976153"/>
            <a:ext cx="11637818" cy="823543"/>
          </a:xfrm>
          <a:prstGeom prst="roundRect">
            <a:avLst>
              <a:gd name="adj" fmla="val 8854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96" name="原图重建-92"/>
          <p:cNvSpPr>
            <a:spLocks noGrp="1"/>
          </p:cNvSpPr>
          <p:nvPr/>
        </p:nvSpPr>
        <p:spPr>
          <a:xfrm>
            <a:off x="277091" y="5976153"/>
            <a:ext cx="2085474" cy="823543"/>
          </a:xfrm>
          <a:prstGeom prst="roundRect">
            <a:avLst>
              <a:gd name="adj" fmla="val 8854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98" name="原图重建-93"/>
          <p:cNvSpPr>
            <a:spLocks noGrp="1"/>
          </p:cNvSpPr>
          <p:nvPr/>
        </p:nvSpPr>
        <p:spPr>
          <a:xfrm>
            <a:off x="713129" y="6237396"/>
            <a:ext cx="1290660" cy="306096"/>
          </a:xfrm>
          <a:prstGeom prst="roundRect">
            <a:avLst>
              <a:gd name="adj" fmla="val 238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95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视频</a:t>
            </a:r>
          </a:p>
        </p:txBody>
      </p:sp>
      <p:sp>
        <p:nvSpPr>
          <p:cNvPr id="100" name="原图重建-95"/>
          <p:cNvSpPr>
            <a:spLocks noGrp="1"/>
          </p:cNvSpPr>
          <p:nvPr/>
        </p:nvSpPr>
        <p:spPr>
          <a:xfrm>
            <a:off x="6373091" y="6013718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01" name="原图重建-96"/>
          <p:cNvSpPr>
            <a:spLocks noGrp="1"/>
          </p:cNvSpPr>
          <p:nvPr/>
        </p:nvSpPr>
        <p:spPr>
          <a:xfrm>
            <a:off x="6569971" y="6013718"/>
            <a:ext cx="250840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信息存在于语音、画面和时间序列中</a:t>
            </a:r>
          </a:p>
        </p:txBody>
      </p:sp>
      <p:sp>
        <p:nvSpPr>
          <p:cNvPr id="102" name="原图重建-97"/>
          <p:cNvSpPr>
            <a:spLocks noGrp="1"/>
          </p:cNvSpPr>
          <p:nvPr/>
        </p:nvSpPr>
        <p:spPr>
          <a:xfrm>
            <a:off x="6373091" y="6175876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03" name="原图重建-98"/>
          <p:cNvSpPr>
            <a:spLocks noGrp="1"/>
          </p:cNvSpPr>
          <p:nvPr/>
        </p:nvSpPr>
        <p:spPr>
          <a:xfrm>
            <a:off x="6569971" y="6175876"/>
            <a:ext cx="250840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需要语音识别、关键帧提取等技术</a:t>
            </a:r>
          </a:p>
        </p:txBody>
      </p:sp>
      <p:sp>
        <p:nvSpPr>
          <p:cNvPr id="104" name="原图重建-99"/>
          <p:cNvSpPr>
            <a:spLocks noGrp="1"/>
          </p:cNvSpPr>
          <p:nvPr/>
        </p:nvSpPr>
        <p:spPr>
          <a:xfrm>
            <a:off x="6373091" y="6338034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05" name="原图重建-100"/>
          <p:cNvSpPr>
            <a:spLocks noGrp="1"/>
          </p:cNvSpPr>
          <p:nvPr/>
        </p:nvSpPr>
        <p:spPr>
          <a:xfrm>
            <a:off x="6569971" y="6338034"/>
            <a:ext cx="250840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可能需要结合文本和图像信息</a:t>
            </a:r>
          </a:p>
        </p:txBody>
      </p:sp>
      <p:sp>
        <p:nvSpPr>
          <p:cNvPr id="106" name="原图重建-101"/>
          <p:cNvSpPr>
            <a:spLocks noGrp="1"/>
          </p:cNvSpPr>
          <p:nvPr/>
        </p:nvSpPr>
        <p:spPr>
          <a:xfrm>
            <a:off x="6373091" y="6500191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07" name="原图重建-102"/>
          <p:cNvSpPr>
            <a:spLocks noGrp="1"/>
          </p:cNvSpPr>
          <p:nvPr/>
        </p:nvSpPr>
        <p:spPr>
          <a:xfrm>
            <a:off x="6569971" y="6500191"/>
            <a:ext cx="250840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时间信息也可能是关键线索</a:t>
            </a:r>
          </a:p>
        </p:txBody>
      </p:sp>
      <p:sp>
        <p:nvSpPr>
          <p:cNvPr id="108" name="原图重建-103"/>
          <p:cNvSpPr>
            <a:spLocks noGrp="1"/>
          </p:cNvSpPr>
          <p:nvPr/>
        </p:nvSpPr>
        <p:spPr>
          <a:xfrm>
            <a:off x="9304421" y="6013718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09" name="原图重建-104"/>
          <p:cNvSpPr>
            <a:spLocks noGrp="1"/>
          </p:cNvSpPr>
          <p:nvPr/>
        </p:nvSpPr>
        <p:spPr>
          <a:xfrm>
            <a:off x="9501301" y="6013718"/>
            <a:ext cx="239173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语音识别（ASR）</a:t>
            </a:r>
          </a:p>
        </p:txBody>
      </p:sp>
      <p:sp>
        <p:nvSpPr>
          <p:cNvPr id="110" name="原图重建-105"/>
          <p:cNvSpPr>
            <a:spLocks noGrp="1"/>
          </p:cNvSpPr>
          <p:nvPr/>
        </p:nvSpPr>
        <p:spPr>
          <a:xfrm>
            <a:off x="9304421" y="6175876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11" name="原图重建-106"/>
          <p:cNvSpPr>
            <a:spLocks noGrp="1"/>
          </p:cNvSpPr>
          <p:nvPr/>
        </p:nvSpPr>
        <p:spPr>
          <a:xfrm>
            <a:off x="9501301" y="6175876"/>
            <a:ext cx="239173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关键帧提取与图像理解</a:t>
            </a:r>
          </a:p>
        </p:txBody>
      </p:sp>
      <p:sp>
        <p:nvSpPr>
          <p:cNvPr id="112" name="原图重建-107"/>
          <p:cNvSpPr>
            <a:spLocks noGrp="1"/>
          </p:cNvSpPr>
          <p:nvPr/>
        </p:nvSpPr>
        <p:spPr>
          <a:xfrm>
            <a:off x="9304421" y="6338034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13" name="原图重建-108"/>
          <p:cNvSpPr>
            <a:spLocks noGrp="1"/>
          </p:cNvSpPr>
          <p:nvPr/>
        </p:nvSpPr>
        <p:spPr>
          <a:xfrm>
            <a:off x="9501301" y="6338034"/>
            <a:ext cx="239173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文本与视觉信息结合</a:t>
            </a:r>
          </a:p>
        </p:txBody>
      </p:sp>
      <p:sp>
        <p:nvSpPr>
          <p:cNvPr id="114" name="原图重建-109"/>
          <p:cNvSpPr>
            <a:spLocks noGrp="1"/>
          </p:cNvSpPr>
          <p:nvPr/>
        </p:nvSpPr>
        <p:spPr>
          <a:xfrm>
            <a:off x="9304421" y="6500191"/>
            <a:ext cx="131254" cy="16215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15" name="原图重建-110"/>
          <p:cNvSpPr>
            <a:spLocks noGrp="1"/>
          </p:cNvSpPr>
          <p:nvPr/>
        </p:nvSpPr>
        <p:spPr>
          <a:xfrm>
            <a:off x="9501301" y="6500191"/>
            <a:ext cx="2391732" cy="184022"/>
          </a:xfrm>
          <a:prstGeom prst="roundRect">
            <a:avLst>
              <a:gd name="adj" fmla="val 39625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提取时间、地点、对象等关键信息</a:t>
            </a:r>
          </a:p>
        </p:txBody>
      </p:sp>
      <p:sp>
        <p:nvSpPr>
          <p:cNvPr id="116" name="原图重建-111"/>
          <p:cNvSpPr>
            <a:spLocks noGrp="1"/>
          </p:cNvSpPr>
          <p:nvPr/>
        </p:nvSpPr>
        <p:spPr>
          <a:xfrm>
            <a:off x="2610488" y="1603358"/>
            <a:ext cx="346363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orders.csv</a:t>
            </a:r>
          </a:p>
        </p:txBody>
      </p:sp>
      <p:graphicFrame>
        <p:nvGraphicFramePr>
          <p:cNvPr id="117" name="表格 116"/>
          <p:cNvGraphicFramePr/>
          <p:nvPr/>
        </p:nvGraphicFramePr>
        <p:xfrm>
          <a:off x="2610488" y="1800134"/>
          <a:ext cx="3303216" cy="867270"/>
        </p:xfrm>
        <a:graphic>
          <a:graphicData uri="http://schemas.openxmlformats.org/drawingml/2006/table">
            <a:tbl>
              <a:tblPr/>
              <a:tblGrid>
                <a:gridCol w="5468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96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6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46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3454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订单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门店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订单日期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状态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金额/元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45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O1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2025-01-10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已完成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345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O2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B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2025-02-03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已完成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45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O3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2025-02-03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已完成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345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原图重建-112"/>
          <p:cNvSpPr>
            <a:spLocks noGrp="1"/>
          </p:cNvSpPr>
          <p:nvPr/>
        </p:nvSpPr>
        <p:spPr>
          <a:xfrm>
            <a:off x="2603196" y="2835029"/>
            <a:ext cx="3317799" cy="1042183"/>
          </a:xfrm>
          <a:prstGeom prst="roundRect">
            <a:avLst>
              <a:gd name="adj" fmla="val 6997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19" name="原图重建-113"/>
          <p:cNvSpPr>
            <a:spLocks noGrp="1"/>
          </p:cNvSpPr>
          <p:nvPr/>
        </p:nvSpPr>
        <p:spPr>
          <a:xfrm>
            <a:off x="2610488" y="2798589"/>
            <a:ext cx="3317799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products.json</a:t>
            </a:r>
          </a:p>
        </p:txBody>
      </p:sp>
      <p:sp>
        <p:nvSpPr>
          <p:cNvPr id="120" name="原图重建-114"/>
          <p:cNvSpPr>
            <a:spLocks noGrp="1"/>
          </p:cNvSpPr>
          <p:nvPr/>
        </p:nvSpPr>
        <p:spPr>
          <a:xfrm>
            <a:off x="2705282" y="3002652"/>
            <a:ext cx="3179254" cy="867271"/>
          </a:xfrm>
          <a:prstGeom prst="roundRect">
            <a:avLst>
              <a:gd name="adj" fmla="val 840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defPPr>
          </a:lstStyle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{</a:t>
            </a:r>
          </a:p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  "product_id": "P001",</a:t>
            </a:r>
          </a:p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  "name": "Laptop",</a:t>
            </a:r>
          </a:p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  "specs": {"brand": "A", ...},</a:t>
            </a:r>
          </a:p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  "tags": ["electronics", ...]</a:t>
            </a:r>
          </a:p>
          <a:p>
            <a:pPr algn="l">
              <a:def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840" b="0">
                <a:solidFill>
                  <a:srgbClr val="176AA6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121" name="原图重建-115"/>
          <p:cNvSpPr>
            <a:spLocks noGrp="1"/>
          </p:cNvSpPr>
          <p:nvPr/>
        </p:nvSpPr>
        <p:spPr>
          <a:xfrm>
            <a:off x="2610488" y="3986531"/>
            <a:ext cx="1458373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customers 表</a:t>
            </a:r>
          </a:p>
        </p:txBody>
      </p:sp>
      <p:graphicFrame>
        <p:nvGraphicFramePr>
          <p:cNvPr id="122" name="表格 121"/>
          <p:cNvGraphicFramePr/>
          <p:nvPr/>
        </p:nvGraphicFramePr>
        <p:xfrm>
          <a:off x="2610488" y="4190595"/>
          <a:ext cx="1429206" cy="743376"/>
        </p:xfrm>
        <a:graphic>
          <a:graphicData uri="http://schemas.openxmlformats.org/drawingml/2006/table">
            <a:tbl>
              <a:tblPr/>
              <a:tblGrid>
                <a:gridCol w="393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0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id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name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city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张三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北京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李四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上海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3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王五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广州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3" name="原图重建-116"/>
          <p:cNvSpPr>
            <a:spLocks noGrp="1"/>
          </p:cNvSpPr>
          <p:nvPr/>
        </p:nvSpPr>
        <p:spPr>
          <a:xfrm>
            <a:off x="4265742" y="3986531"/>
            <a:ext cx="1604211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orders 表</a:t>
            </a:r>
          </a:p>
        </p:txBody>
      </p:sp>
      <p:graphicFrame>
        <p:nvGraphicFramePr>
          <p:cNvPr id="124" name="表格 123"/>
          <p:cNvGraphicFramePr/>
          <p:nvPr/>
        </p:nvGraphicFramePr>
        <p:xfrm>
          <a:off x="4302201" y="4190595"/>
          <a:ext cx="1662545" cy="743376"/>
        </p:xfrm>
        <a:graphic>
          <a:graphicData uri="http://schemas.openxmlformats.org/drawingml/2006/table">
            <a:tbl>
              <a:tblPr/>
              <a:tblGrid>
                <a:gridCol w="4229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id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customer_id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amount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101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120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102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260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5844"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103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1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80</a:t>
                      </a:r>
                    </a:p>
                  </a:txBody>
                  <a:tcPr marL="0" marR="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5" name="原图重建-117"/>
          <p:cNvSpPr>
            <a:spLocks noGrp="1"/>
          </p:cNvSpPr>
          <p:nvPr/>
        </p:nvSpPr>
        <p:spPr>
          <a:xfrm>
            <a:off x="2603196" y="5065154"/>
            <a:ext cx="3317799" cy="838119"/>
          </a:xfrm>
          <a:prstGeom prst="roundRect">
            <a:avLst>
              <a:gd name="adj" fmla="val 8700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26" name="原图重建-118"/>
          <p:cNvSpPr>
            <a:spLocks noGrp="1"/>
          </p:cNvSpPr>
          <p:nvPr/>
        </p:nvSpPr>
        <p:spPr>
          <a:xfrm>
            <a:off x="2610488" y="5028714"/>
            <a:ext cx="3281340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stores.md</a:t>
            </a:r>
          </a:p>
        </p:txBody>
      </p:sp>
      <p:sp>
        <p:nvSpPr>
          <p:cNvPr id="127" name="原图重建-119"/>
          <p:cNvSpPr>
            <a:spLocks noGrp="1"/>
          </p:cNvSpPr>
          <p:nvPr/>
        </p:nvSpPr>
        <p:spPr>
          <a:xfrm>
            <a:off x="2727158" y="5247354"/>
            <a:ext cx="3135502" cy="655919"/>
          </a:xfrm>
          <a:prstGeom prst="roundRect">
            <a:avLst>
              <a:gd name="adj" fmla="val 1111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 A 位于华东。</a:t>
            </a:r>
          </a:p>
          <a:p>
            <a: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 B 位于华北。</a:t>
            </a:r>
          </a:p>
          <a:p>
            <a: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 C 位于华东。</a:t>
            </a:r>
          </a:p>
          <a:p>
            <a: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 D 位于华南。…</a:t>
            </a:r>
          </a:p>
        </p:txBody>
      </p:sp>
      <p:sp>
        <p:nvSpPr>
          <p:cNvPr id="128" name="原图重建-120"/>
          <p:cNvSpPr>
            <a:spLocks noGrp="1"/>
          </p:cNvSpPr>
          <p:nvPr/>
        </p:nvSpPr>
        <p:spPr>
          <a:xfrm>
            <a:off x="2610488" y="5968865"/>
            <a:ext cx="3390718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9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9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9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store_video.mp4（门店介绍视频）</a:t>
            </a:r>
          </a:p>
        </p:txBody>
      </p:sp>
      <p:pic>
        <p:nvPicPr>
          <p:cNvPr id="129" name="图片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780" y="6170254"/>
            <a:ext cx="2005263" cy="624828"/>
          </a:xfrm>
          <a:prstGeom prst="rect">
            <a:avLst/>
          </a:prstGeom>
        </p:spPr>
      </p:pic>
      <p:sp>
        <p:nvSpPr>
          <p:cNvPr id="130" name="原图重建-121"/>
          <p:cNvSpPr>
            <a:spLocks noGrp="1"/>
          </p:cNvSpPr>
          <p:nvPr/>
        </p:nvSpPr>
        <p:spPr>
          <a:xfrm>
            <a:off x="4936593" y="6042870"/>
            <a:ext cx="1188574" cy="189488"/>
          </a:xfrm>
          <a:prstGeom prst="roundRect">
            <a:avLst>
              <a:gd name="adj" fmla="val 3848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4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4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84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可能包含：</a:t>
            </a:r>
          </a:p>
        </p:txBody>
      </p:sp>
      <p:sp>
        <p:nvSpPr>
          <p:cNvPr id="131" name="原图重建-122"/>
          <p:cNvSpPr>
            <a:spLocks noGrp="1"/>
          </p:cNvSpPr>
          <p:nvPr/>
        </p:nvSpPr>
        <p:spPr>
          <a:xfrm>
            <a:off x="4936593" y="6232358"/>
            <a:ext cx="131254" cy="12389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32" name="原图重建-123"/>
          <p:cNvSpPr>
            <a:spLocks noGrp="1"/>
          </p:cNvSpPr>
          <p:nvPr/>
        </p:nvSpPr>
        <p:spPr>
          <a:xfrm>
            <a:off x="5133474" y="6232358"/>
            <a:ext cx="998986" cy="14576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门店位置介绍</a:t>
            </a:r>
          </a:p>
        </p:txBody>
      </p:sp>
      <p:sp>
        <p:nvSpPr>
          <p:cNvPr id="133" name="原图重建-124"/>
          <p:cNvSpPr>
            <a:spLocks noGrp="1"/>
          </p:cNvSpPr>
          <p:nvPr/>
        </p:nvSpPr>
        <p:spPr>
          <a:xfrm>
            <a:off x="4936593" y="6356254"/>
            <a:ext cx="131254" cy="12389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34" name="原图重建-125"/>
          <p:cNvSpPr>
            <a:spLocks noGrp="1"/>
          </p:cNvSpPr>
          <p:nvPr/>
        </p:nvSpPr>
        <p:spPr>
          <a:xfrm>
            <a:off x="5133474" y="6356254"/>
            <a:ext cx="998986" cy="14576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语音解说信息</a:t>
            </a:r>
          </a:p>
        </p:txBody>
      </p:sp>
      <p:sp>
        <p:nvSpPr>
          <p:cNvPr id="135" name="原图重建-126"/>
          <p:cNvSpPr>
            <a:spLocks noGrp="1"/>
          </p:cNvSpPr>
          <p:nvPr/>
        </p:nvSpPr>
        <p:spPr>
          <a:xfrm>
            <a:off x="4936593" y="6480149"/>
            <a:ext cx="131254" cy="12389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36" name="原图重建-127"/>
          <p:cNvSpPr>
            <a:spLocks noGrp="1"/>
          </p:cNvSpPr>
          <p:nvPr/>
        </p:nvSpPr>
        <p:spPr>
          <a:xfrm>
            <a:off x="5133474" y="6480149"/>
            <a:ext cx="998986" cy="14576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画面中的文字或标识</a:t>
            </a:r>
          </a:p>
        </p:txBody>
      </p:sp>
      <p:sp>
        <p:nvSpPr>
          <p:cNvPr id="137" name="原图重建-128"/>
          <p:cNvSpPr>
            <a:spLocks noGrp="1"/>
          </p:cNvSpPr>
          <p:nvPr/>
        </p:nvSpPr>
        <p:spPr>
          <a:xfrm>
            <a:off x="4936593" y="6604045"/>
            <a:ext cx="131254" cy="12389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38" name="原图重建-129"/>
          <p:cNvSpPr>
            <a:spLocks noGrp="1"/>
          </p:cNvSpPr>
          <p:nvPr/>
        </p:nvSpPr>
        <p:spPr>
          <a:xfrm>
            <a:off x="5133474" y="6604045"/>
            <a:ext cx="998986" cy="14576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时间相关信息</a:t>
            </a:r>
          </a:p>
        </p:txBody>
      </p:sp>
      <p:sp>
        <p:nvSpPr>
          <p:cNvPr id="139" name="原图重建-130"/>
          <p:cNvSpPr>
            <a:spLocks noGrp="1"/>
          </p:cNvSpPr>
          <p:nvPr/>
        </p:nvSpPr>
        <p:spPr>
          <a:xfrm>
            <a:off x="11484689" y="6581056"/>
            <a:ext cx="583349" cy="182200"/>
          </a:xfrm>
          <a:prstGeom prst="roundRect">
            <a:avLst>
              <a:gd name="adj" fmla="val 4002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8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r">
              <a:defRPr sz="8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8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原图重建-131"/>
          <p:cNvSpPr>
            <a:spLocks noGrp="1"/>
          </p:cNvSpPr>
          <p:nvPr/>
        </p:nvSpPr>
        <p:spPr>
          <a:xfrm>
            <a:off x="350010" y="116608"/>
            <a:ext cx="11484689" cy="539311"/>
          </a:xfrm>
          <a:prstGeom prst="roundRect">
            <a:avLst>
              <a:gd name="adj" fmla="val 1352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3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310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数据处理的核心能力（按需选择）</a:t>
            </a:r>
          </a:p>
        </p:txBody>
      </p:sp>
      <p:sp>
        <p:nvSpPr>
          <p:cNvPr id="2" name="原图重建-132"/>
          <p:cNvSpPr>
            <a:spLocks noGrp="1"/>
          </p:cNvSpPr>
          <p:nvPr/>
        </p:nvSpPr>
        <p:spPr>
          <a:xfrm>
            <a:off x="350010" y="655919"/>
            <a:ext cx="11484689" cy="393552"/>
          </a:xfrm>
          <a:prstGeom prst="roundRect">
            <a:avLst>
              <a:gd name="adj" fmla="val 1852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不同任务需要的处理步骤并不相同，Agent 会根据问题、数据结构和工具反馈，动态选择合适的操作。</a:t>
            </a:r>
          </a:p>
        </p:txBody>
      </p:sp>
      <p:sp>
        <p:nvSpPr>
          <p:cNvPr id="3" name="原图重建-133"/>
          <p:cNvSpPr>
            <a:spLocks noGrp="1"/>
          </p:cNvSpPr>
          <p:nvPr/>
        </p:nvSpPr>
        <p:spPr>
          <a:xfrm>
            <a:off x="233045" y="1071245"/>
            <a:ext cx="2245995" cy="1769745"/>
          </a:xfrm>
          <a:prstGeom prst="roundRect">
            <a:avLst>
              <a:gd name="adj" fmla="val 3893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4" name="原图重建-134"/>
          <p:cNvSpPr>
            <a:spLocks noGrp="1"/>
          </p:cNvSpPr>
          <p:nvPr/>
        </p:nvSpPr>
        <p:spPr>
          <a:xfrm>
            <a:off x="342718" y="1151503"/>
            <a:ext cx="364593" cy="364400"/>
          </a:xfrm>
          <a:prstGeom prst="ellipse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5" name="原图重建-135"/>
          <p:cNvSpPr>
            <a:spLocks noGrp="1"/>
          </p:cNvSpPr>
          <p:nvPr/>
        </p:nvSpPr>
        <p:spPr>
          <a:xfrm>
            <a:off x="342718" y="1166079"/>
            <a:ext cx="364593" cy="342536"/>
          </a:xfrm>
          <a:prstGeom prst="roundRect">
            <a:avLst>
              <a:gd name="adj" fmla="val 2128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7" name="原图重建-136"/>
          <p:cNvSpPr>
            <a:spLocks noGrp="1"/>
          </p:cNvSpPr>
          <p:nvPr/>
        </p:nvSpPr>
        <p:spPr>
          <a:xfrm>
            <a:off x="328134" y="1540016"/>
            <a:ext cx="205630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数据探索</a:t>
            </a:r>
          </a:p>
        </p:txBody>
      </p:sp>
      <p:sp>
        <p:nvSpPr>
          <p:cNvPr id="8" name="原图重建-137"/>
          <p:cNvSpPr>
            <a:spLocks noGrp="1"/>
          </p:cNvSpPr>
          <p:nvPr/>
        </p:nvSpPr>
        <p:spPr>
          <a:xfrm>
            <a:off x="437512" y="1882552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" name="原图重建-138"/>
          <p:cNvSpPr>
            <a:spLocks noGrp="1"/>
          </p:cNvSpPr>
          <p:nvPr/>
        </p:nvSpPr>
        <p:spPr>
          <a:xfrm>
            <a:off x="634392" y="1882552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查看文件清单</a:t>
            </a:r>
          </a:p>
        </p:txBody>
      </p:sp>
      <p:sp>
        <p:nvSpPr>
          <p:cNvPr id="10" name="原图重建-139"/>
          <p:cNvSpPr>
            <a:spLocks noGrp="1"/>
          </p:cNvSpPr>
          <p:nvPr/>
        </p:nvSpPr>
        <p:spPr>
          <a:xfrm>
            <a:off x="437512" y="213763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1" name="原图重建-140"/>
          <p:cNvSpPr>
            <a:spLocks noGrp="1"/>
          </p:cNvSpPr>
          <p:nvPr/>
        </p:nvSpPr>
        <p:spPr>
          <a:xfrm>
            <a:off x="634392" y="213763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检查字段和样例</a:t>
            </a:r>
          </a:p>
        </p:txBody>
      </p:sp>
      <p:sp>
        <p:nvSpPr>
          <p:cNvPr id="12" name="原图重建-141"/>
          <p:cNvSpPr>
            <a:spLocks noGrp="1"/>
          </p:cNvSpPr>
          <p:nvPr/>
        </p:nvSpPr>
        <p:spPr>
          <a:xfrm>
            <a:off x="437512" y="239271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3" name="原图重建-142"/>
          <p:cNvSpPr>
            <a:spLocks noGrp="1"/>
          </p:cNvSpPr>
          <p:nvPr/>
        </p:nvSpPr>
        <p:spPr>
          <a:xfrm>
            <a:off x="634392" y="239271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理解数据结构</a:t>
            </a:r>
          </a:p>
        </p:txBody>
      </p:sp>
      <p:sp>
        <p:nvSpPr>
          <p:cNvPr id="14" name="原图重建-143"/>
          <p:cNvSpPr>
            <a:spLocks noGrp="1"/>
          </p:cNvSpPr>
          <p:nvPr/>
        </p:nvSpPr>
        <p:spPr>
          <a:xfrm>
            <a:off x="2581275" y="1071245"/>
            <a:ext cx="2245995" cy="1786255"/>
          </a:xfrm>
          <a:prstGeom prst="roundRect">
            <a:avLst>
              <a:gd name="adj" fmla="val 3893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5" name="原图重建-144"/>
          <p:cNvSpPr>
            <a:spLocks noGrp="1"/>
          </p:cNvSpPr>
          <p:nvPr/>
        </p:nvSpPr>
        <p:spPr>
          <a:xfrm>
            <a:off x="2690699" y="1151503"/>
            <a:ext cx="364593" cy="364400"/>
          </a:xfrm>
          <a:prstGeom prst="ellipse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16" name="原图重建-145"/>
          <p:cNvSpPr>
            <a:spLocks noGrp="1"/>
          </p:cNvSpPr>
          <p:nvPr/>
        </p:nvSpPr>
        <p:spPr>
          <a:xfrm>
            <a:off x="2690699" y="1166079"/>
            <a:ext cx="364593" cy="342536"/>
          </a:xfrm>
          <a:prstGeom prst="roundRect">
            <a:avLst>
              <a:gd name="adj" fmla="val 2128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18" name="原图重建-146"/>
          <p:cNvSpPr>
            <a:spLocks noGrp="1"/>
          </p:cNvSpPr>
          <p:nvPr/>
        </p:nvSpPr>
        <p:spPr>
          <a:xfrm>
            <a:off x="2676115" y="1540016"/>
            <a:ext cx="205630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数据清洗与规范化</a:t>
            </a:r>
          </a:p>
        </p:txBody>
      </p:sp>
      <p:sp>
        <p:nvSpPr>
          <p:cNvPr id="19" name="原图重建-147"/>
          <p:cNvSpPr>
            <a:spLocks noGrp="1"/>
          </p:cNvSpPr>
          <p:nvPr/>
        </p:nvSpPr>
        <p:spPr>
          <a:xfrm>
            <a:off x="2785493" y="1882552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0" name="原图重建-148"/>
          <p:cNvSpPr>
            <a:spLocks noGrp="1"/>
          </p:cNvSpPr>
          <p:nvPr/>
        </p:nvSpPr>
        <p:spPr>
          <a:xfrm>
            <a:off x="2982373" y="1882552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按规则处理缺失与异常</a:t>
            </a:r>
          </a:p>
        </p:txBody>
      </p:sp>
      <p:sp>
        <p:nvSpPr>
          <p:cNvPr id="21" name="原图重建-149"/>
          <p:cNvSpPr>
            <a:spLocks noGrp="1"/>
          </p:cNvSpPr>
          <p:nvPr/>
        </p:nvSpPr>
        <p:spPr>
          <a:xfrm>
            <a:off x="2785493" y="213763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2" name="原图重建-150"/>
          <p:cNvSpPr>
            <a:spLocks noGrp="1"/>
          </p:cNvSpPr>
          <p:nvPr/>
        </p:nvSpPr>
        <p:spPr>
          <a:xfrm>
            <a:off x="2982373" y="213763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统一字段类型和格式</a:t>
            </a:r>
          </a:p>
        </p:txBody>
      </p:sp>
      <p:sp>
        <p:nvSpPr>
          <p:cNvPr id="23" name="原图重建-151"/>
          <p:cNvSpPr>
            <a:spLocks noGrp="1"/>
          </p:cNvSpPr>
          <p:nvPr/>
        </p:nvSpPr>
        <p:spPr>
          <a:xfrm>
            <a:off x="2785493" y="239271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4" name="原图重建-152"/>
          <p:cNvSpPr>
            <a:spLocks noGrp="1"/>
          </p:cNvSpPr>
          <p:nvPr/>
        </p:nvSpPr>
        <p:spPr>
          <a:xfrm>
            <a:off x="2982373" y="239271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保留有效的重复记录</a:t>
            </a:r>
          </a:p>
        </p:txBody>
      </p:sp>
      <p:sp>
        <p:nvSpPr>
          <p:cNvPr id="25" name="原图重建-153"/>
          <p:cNvSpPr>
            <a:spLocks noGrp="1"/>
          </p:cNvSpPr>
          <p:nvPr/>
        </p:nvSpPr>
        <p:spPr>
          <a:xfrm>
            <a:off x="4987925" y="1071245"/>
            <a:ext cx="2245995" cy="1785620"/>
          </a:xfrm>
          <a:prstGeom prst="roundRect">
            <a:avLst>
              <a:gd name="adj" fmla="val 3893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26" name="原图重建-154"/>
          <p:cNvSpPr>
            <a:spLocks noGrp="1"/>
          </p:cNvSpPr>
          <p:nvPr/>
        </p:nvSpPr>
        <p:spPr>
          <a:xfrm>
            <a:off x="5097014" y="1151503"/>
            <a:ext cx="364593" cy="364400"/>
          </a:xfrm>
          <a:prstGeom prst="ellipse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27" name="原图重建-155"/>
          <p:cNvSpPr>
            <a:spLocks noGrp="1"/>
          </p:cNvSpPr>
          <p:nvPr/>
        </p:nvSpPr>
        <p:spPr>
          <a:xfrm>
            <a:off x="5097014" y="1166079"/>
            <a:ext cx="364593" cy="342536"/>
          </a:xfrm>
          <a:prstGeom prst="roundRect">
            <a:avLst>
              <a:gd name="adj" fmla="val 2128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29" name="原图重建-156"/>
          <p:cNvSpPr>
            <a:spLocks noGrp="1"/>
          </p:cNvSpPr>
          <p:nvPr/>
        </p:nvSpPr>
        <p:spPr>
          <a:xfrm>
            <a:off x="5082431" y="1540016"/>
            <a:ext cx="205630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信息抽取与转换</a:t>
            </a:r>
          </a:p>
        </p:txBody>
      </p:sp>
      <p:sp>
        <p:nvSpPr>
          <p:cNvPr id="30" name="原图重建-157"/>
          <p:cNvSpPr>
            <a:spLocks noGrp="1"/>
          </p:cNvSpPr>
          <p:nvPr/>
        </p:nvSpPr>
        <p:spPr>
          <a:xfrm>
            <a:off x="5191809" y="1882552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1" name="原图重建-158"/>
          <p:cNvSpPr>
            <a:spLocks noGrp="1"/>
          </p:cNvSpPr>
          <p:nvPr/>
        </p:nvSpPr>
        <p:spPr>
          <a:xfrm>
            <a:off x="5388689" y="1882552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从文档/视频中提取信息</a:t>
            </a:r>
          </a:p>
        </p:txBody>
      </p:sp>
      <p:sp>
        <p:nvSpPr>
          <p:cNvPr id="32" name="原图重建-159"/>
          <p:cNvSpPr>
            <a:spLocks noGrp="1"/>
          </p:cNvSpPr>
          <p:nvPr/>
        </p:nvSpPr>
        <p:spPr>
          <a:xfrm>
            <a:off x="5191809" y="213763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3" name="原图重建-160"/>
          <p:cNvSpPr>
            <a:spLocks noGrp="1"/>
          </p:cNvSpPr>
          <p:nvPr/>
        </p:nvSpPr>
        <p:spPr>
          <a:xfrm>
            <a:off x="5388689" y="213763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解析 JSON 结构</a:t>
            </a:r>
          </a:p>
        </p:txBody>
      </p:sp>
      <p:sp>
        <p:nvSpPr>
          <p:cNvPr id="34" name="原图重建-161"/>
          <p:cNvSpPr>
            <a:spLocks noGrp="1"/>
          </p:cNvSpPr>
          <p:nvPr/>
        </p:nvSpPr>
        <p:spPr>
          <a:xfrm>
            <a:off x="5191809" y="239271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5" name="原图重建-162"/>
          <p:cNvSpPr>
            <a:spLocks noGrp="1"/>
          </p:cNvSpPr>
          <p:nvPr/>
        </p:nvSpPr>
        <p:spPr>
          <a:xfrm>
            <a:off x="5388689" y="239271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将非结构化数据</a:t>
            </a:r>
          </a:p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转换为结构化表</a:t>
            </a:r>
          </a:p>
        </p:txBody>
      </p:sp>
      <p:sp>
        <p:nvSpPr>
          <p:cNvPr id="36" name="原图重建-163"/>
          <p:cNvSpPr>
            <a:spLocks noGrp="1"/>
          </p:cNvSpPr>
          <p:nvPr/>
        </p:nvSpPr>
        <p:spPr>
          <a:xfrm>
            <a:off x="7379335" y="1071245"/>
            <a:ext cx="2245995" cy="1786255"/>
          </a:xfrm>
          <a:prstGeom prst="roundRect">
            <a:avLst>
              <a:gd name="adj" fmla="val 3893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37" name="原图重建-164"/>
          <p:cNvSpPr>
            <a:spLocks noGrp="1"/>
          </p:cNvSpPr>
          <p:nvPr/>
        </p:nvSpPr>
        <p:spPr>
          <a:xfrm>
            <a:off x="7488746" y="1151503"/>
            <a:ext cx="364593" cy="364400"/>
          </a:xfrm>
          <a:prstGeom prst="ellipse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38" name="原图重建-165"/>
          <p:cNvSpPr>
            <a:spLocks noGrp="1"/>
          </p:cNvSpPr>
          <p:nvPr/>
        </p:nvSpPr>
        <p:spPr>
          <a:xfrm>
            <a:off x="7488746" y="1166079"/>
            <a:ext cx="364593" cy="342536"/>
          </a:xfrm>
          <a:prstGeom prst="roundRect">
            <a:avLst>
              <a:gd name="adj" fmla="val 2128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40" name="原图重建-166"/>
          <p:cNvSpPr>
            <a:spLocks noGrp="1"/>
          </p:cNvSpPr>
          <p:nvPr/>
        </p:nvSpPr>
        <p:spPr>
          <a:xfrm>
            <a:off x="7474163" y="1540016"/>
            <a:ext cx="205630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数据整合与关联</a:t>
            </a:r>
          </a:p>
        </p:txBody>
      </p:sp>
      <p:sp>
        <p:nvSpPr>
          <p:cNvPr id="41" name="原图重建-167"/>
          <p:cNvSpPr>
            <a:spLocks noGrp="1"/>
          </p:cNvSpPr>
          <p:nvPr/>
        </p:nvSpPr>
        <p:spPr>
          <a:xfrm>
            <a:off x="7583541" y="1882552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2" name="原图重建-168"/>
          <p:cNvSpPr>
            <a:spLocks noGrp="1"/>
          </p:cNvSpPr>
          <p:nvPr/>
        </p:nvSpPr>
        <p:spPr>
          <a:xfrm>
            <a:off x="7780421" y="1882552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关联不同文件的数据</a:t>
            </a:r>
          </a:p>
        </p:txBody>
      </p:sp>
      <p:sp>
        <p:nvSpPr>
          <p:cNvPr id="43" name="原图重建-169"/>
          <p:cNvSpPr>
            <a:spLocks noGrp="1"/>
          </p:cNvSpPr>
          <p:nvPr/>
        </p:nvSpPr>
        <p:spPr>
          <a:xfrm>
            <a:off x="7583541" y="213763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4" name="原图重建-170"/>
          <p:cNvSpPr>
            <a:spLocks noGrp="1"/>
          </p:cNvSpPr>
          <p:nvPr/>
        </p:nvSpPr>
        <p:spPr>
          <a:xfrm>
            <a:off x="7780421" y="213763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建立映射关系</a:t>
            </a:r>
          </a:p>
        </p:txBody>
      </p:sp>
      <p:sp>
        <p:nvSpPr>
          <p:cNvPr id="45" name="原图重建-171"/>
          <p:cNvSpPr>
            <a:spLocks noGrp="1"/>
          </p:cNvSpPr>
          <p:nvPr/>
        </p:nvSpPr>
        <p:spPr>
          <a:xfrm>
            <a:off x="7583541" y="239271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46" name="原图重建-172"/>
          <p:cNvSpPr>
            <a:spLocks noGrp="1"/>
          </p:cNvSpPr>
          <p:nvPr/>
        </p:nvSpPr>
        <p:spPr>
          <a:xfrm>
            <a:off x="7780421" y="239271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处理主外键关系</a:t>
            </a:r>
          </a:p>
        </p:txBody>
      </p:sp>
      <p:sp>
        <p:nvSpPr>
          <p:cNvPr id="47" name="原图重建-173"/>
          <p:cNvSpPr>
            <a:spLocks noGrp="1"/>
          </p:cNvSpPr>
          <p:nvPr/>
        </p:nvSpPr>
        <p:spPr>
          <a:xfrm>
            <a:off x="9771380" y="1071245"/>
            <a:ext cx="2245995" cy="1769110"/>
          </a:xfrm>
          <a:prstGeom prst="roundRect">
            <a:avLst>
              <a:gd name="adj" fmla="val 3893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48" name="原图重建-174"/>
          <p:cNvSpPr>
            <a:spLocks noGrp="1"/>
          </p:cNvSpPr>
          <p:nvPr/>
        </p:nvSpPr>
        <p:spPr>
          <a:xfrm>
            <a:off x="9880478" y="1151503"/>
            <a:ext cx="364593" cy="364400"/>
          </a:xfrm>
          <a:prstGeom prst="ellipse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49" name="原图重建-175"/>
          <p:cNvSpPr>
            <a:spLocks noGrp="1"/>
          </p:cNvSpPr>
          <p:nvPr/>
        </p:nvSpPr>
        <p:spPr>
          <a:xfrm>
            <a:off x="9880478" y="1166079"/>
            <a:ext cx="364593" cy="342536"/>
          </a:xfrm>
          <a:prstGeom prst="roundRect">
            <a:avLst>
              <a:gd name="adj" fmla="val 2128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198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51" name="原图重建-176"/>
          <p:cNvSpPr>
            <a:spLocks noGrp="1"/>
          </p:cNvSpPr>
          <p:nvPr/>
        </p:nvSpPr>
        <p:spPr>
          <a:xfrm>
            <a:off x="9865895" y="1540016"/>
            <a:ext cx="2056306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统计计算与分析</a:t>
            </a:r>
          </a:p>
        </p:txBody>
      </p:sp>
      <p:sp>
        <p:nvSpPr>
          <p:cNvPr id="52" name="原图重建-177"/>
          <p:cNvSpPr>
            <a:spLocks noGrp="1"/>
          </p:cNvSpPr>
          <p:nvPr/>
        </p:nvSpPr>
        <p:spPr>
          <a:xfrm>
            <a:off x="9975273" y="1882552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3" name="原图重建-178"/>
          <p:cNvSpPr>
            <a:spLocks noGrp="1"/>
          </p:cNvSpPr>
          <p:nvPr/>
        </p:nvSpPr>
        <p:spPr>
          <a:xfrm>
            <a:off x="10172153" y="1882552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筛选、分组、聚合</a:t>
            </a:r>
          </a:p>
        </p:txBody>
      </p:sp>
      <p:sp>
        <p:nvSpPr>
          <p:cNvPr id="54" name="原图重建-179"/>
          <p:cNvSpPr>
            <a:spLocks noGrp="1"/>
          </p:cNvSpPr>
          <p:nvPr/>
        </p:nvSpPr>
        <p:spPr>
          <a:xfrm>
            <a:off x="9975273" y="213763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5" name="原图重建-180"/>
          <p:cNvSpPr>
            <a:spLocks noGrp="1"/>
          </p:cNvSpPr>
          <p:nvPr/>
        </p:nvSpPr>
        <p:spPr>
          <a:xfrm>
            <a:off x="10172153" y="213763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计算统计结果</a:t>
            </a:r>
          </a:p>
        </p:txBody>
      </p:sp>
      <p:sp>
        <p:nvSpPr>
          <p:cNvPr id="56" name="原图重建-181"/>
          <p:cNvSpPr>
            <a:spLocks noGrp="1"/>
          </p:cNvSpPr>
          <p:nvPr/>
        </p:nvSpPr>
        <p:spPr>
          <a:xfrm>
            <a:off x="9975273" y="2392711"/>
            <a:ext cx="131254" cy="25508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57" name="原图重建-182"/>
          <p:cNvSpPr>
            <a:spLocks noGrp="1"/>
          </p:cNvSpPr>
          <p:nvPr/>
        </p:nvSpPr>
        <p:spPr>
          <a:xfrm>
            <a:off x="10172153" y="2392711"/>
            <a:ext cx="1735464" cy="276944"/>
          </a:xfrm>
          <a:prstGeom prst="roundRect">
            <a:avLst>
              <a:gd name="adj" fmla="val 2633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排序与验证</a:t>
            </a:r>
          </a:p>
        </p:txBody>
      </p:sp>
      <p:sp>
        <p:nvSpPr>
          <p:cNvPr id="58" name="原图重建-183"/>
          <p:cNvSpPr>
            <a:spLocks noGrp="1"/>
          </p:cNvSpPr>
          <p:nvPr/>
        </p:nvSpPr>
        <p:spPr>
          <a:xfrm>
            <a:off x="233045" y="2939415"/>
            <a:ext cx="11776075" cy="2065655"/>
          </a:xfrm>
          <a:prstGeom prst="roundRect">
            <a:avLst>
              <a:gd name="adj" fmla="val 3599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59" name="原图重建-184"/>
          <p:cNvSpPr>
            <a:spLocks noGrp="1"/>
          </p:cNvSpPr>
          <p:nvPr/>
        </p:nvSpPr>
        <p:spPr>
          <a:xfrm>
            <a:off x="408344" y="3026766"/>
            <a:ext cx="11025302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1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201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01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简单示例：一道题可能需要多种数据处理能力</a:t>
            </a:r>
          </a:p>
        </p:txBody>
      </p:sp>
      <p:sp>
        <p:nvSpPr>
          <p:cNvPr id="61" name="原图重建-185"/>
          <p:cNvSpPr>
            <a:spLocks noGrp="1"/>
          </p:cNvSpPr>
          <p:nvPr/>
        </p:nvSpPr>
        <p:spPr>
          <a:xfrm>
            <a:off x="415636" y="3413030"/>
            <a:ext cx="11302392" cy="233216"/>
          </a:xfrm>
          <a:prstGeom prst="roundRect">
            <a:avLst>
              <a:gd name="adj" fmla="val 3126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例如：统计 2025 年各地区有效订单销售总额（只保留总额 ≥ 200 元的地区）。</a:t>
            </a:r>
          </a:p>
        </p:txBody>
      </p:sp>
      <p:sp>
        <p:nvSpPr>
          <p:cNvPr id="62" name="原图重建-186"/>
          <p:cNvSpPr>
            <a:spLocks noGrp="1"/>
          </p:cNvSpPr>
          <p:nvPr/>
        </p:nvSpPr>
        <p:spPr>
          <a:xfrm>
            <a:off x="430220" y="3725289"/>
            <a:ext cx="2428191" cy="1195231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6668">
            <a:solidFill>
              <a:srgbClr val="CBD5E1"/>
            </a:solidFill>
          </a:ln>
        </p:spPr>
      </p:sp>
      <p:sp>
        <p:nvSpPr>
          <p:cNvPr id="64" name="原图重建-187"/>
          <p:cNvSpPr>
            <a:spLocks noGrp="1"/>
          </p:cNvSpPr>
          <p:nvPr/>
        </p:nvSpPr>
        <p:spPr>
          <a:xfrm>
            <a:off x="1125275" y="3755565"/>
            <a:ext cx="1516708" cy="255080"/>
          </a:xfrm>
          <a:prstGeom prst="roundRect">
            <a:avLst>
              <a:gd name="adj" fmla="val 2858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orders.csv</a:t>
            </a:r>
          </a:p>
        </p:txBody>
      </p:sp>
      <p:sp>
        <p:nvSpPr>
          <p:cNvPr id="65" name="原图重建-188"/>
          <p:cNvSpPr>
            <a:spLocks noGrp="1"/>
          </p:cNvSpPr>
          <p:nvPr/>
        </p:nvSpPr>
        <p:spPr>
          <a:xfrm>
            <a:off x="1132567" y="4017933"/>
            <a:ext cx="1509416" cy="204064"/>
          </a:xfrm>
          <a:prstGeom prst="roundRect">
            <a:avLst>
              <a:gd name="adj" fmla="val 3573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（订单数据）</a:t>
            </a:r>
          </a:p>
        </p:txBody>
      </p:sp>
      <p:sp>
        <p:nvSpPr>
          <p:cNvPr id="66" name="原图重建-189"/>
          <p:cNvSpPr>
            <a:spLocks noGrp="1"/>
          </p:cNvSpPr>
          <p:nvPr/>
        </p:nvSpPr>
        <p:spPr>
          <a:xfrm>
            <a:off x="663560" y="4251149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7" name="原图重建-190"/>
          <p:cNvSpPr>
            <a:spLocks noGrp="1"/>
          </p:cNvSpPr>
          <p:nvPr/>
        </p:nvSpPr>
        <p:spPr>
          <a:xfrm>
            <a:off x="860440" y="4251149"/>
            <a:ext cx="1903177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表格读取、字段检查</a:t>
            </a:r>
          </a:p>
        </p:txBody>
      </p:sp>
      <p:sp>
        <p:nvSpPr>
          <p:cNvPr id="68" name="原图重建-191"/>
          <p:cNvSpPr>
            <a:spLocks noGrp="1"/>
          </p:cNvSpPr>
          <p:nvPr/>
        </p:nvSpPr>
        <p:spPr>
          <a:xfrm>
            <a:off x="663560" y="4447925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69" name="原图重建-192"/>
          <p:cNvSpPr>
            <a:spLocks noGrp="1"/>
          </p:cNvSpPr>
          <p:nvPr/>
        </p:nvSpPr>
        <p:spPr>
          <a:xfrm>
            <a:off x="860440" y="4447925"/>
            <a:ext cx="1903177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日期和状态筛选</a:t>
            </a:r>
          </a:p>
        </p:txBody>
      </p:sp>
      <p:sp>
        <p:nvSpPr>
          <p:cNvPr id="70" name="原图重建-193"/>
          <p:cNvSpPr>
            <a:spLocks noGrp="1"/>
          </p:cNvSpPr>
          <p:nvPr/>
        </p:nvSpPr>
        <p:spPr>
          <a:xfrm>
            <a:off x="663560" y="4644700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71" name="原图重建-194"/>
          <p:cNvSpPr>
            <a:spLocks noGrp="1"/>
          </p:cNvSpPr>
          <p:nvPr/>
        </p:nvSpPr>
        <p:spPr>
          <a:xfrm>
            <a:off x="860440" y="4644700"/>
            <a:ext cx="1903177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金额统计</a:t>
            </a:r>
          </a:p>
        </p:txBody>
      </p:sp>
      <p:sp>
        <p:nvSpPr>
          <p:cNvPr id="72" name="原图重建-195"/>
          <p:cNvSpPr>
            <a:spLocks noGrp="1"/>
          </p:cNvSpPr>
          <p:nvPr/>
        </p:nvSpPr>
        <p:spPr>
          <a:xfrm>
            <a:off x="3303215" y="3725289"/>
            <a:ext cx="2471943" cy="1195231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6668">
            <a:solidFill>
              <a:srgbClr val="CBD5E1"/>
            </a:solidFill>
          </a:ln>
        </p:spPr>
      </p:sp>
      <p:sp>
        <p:nvSpPr>
          <p:cNvPr id="74" name="原图重建-196"/>
          <p:cNvSpPr>
            <a:spLocks noGrp="1"/>
          </p:cNvSpPr>
          <p:nvPr/>
        </p:nvSpPr>
        <p:spPr>
          <a:xfrm>
            <a:off x="3926515" y="3755565"/>
            <a:ext cx="1560459" cy="255080"/>
          </a:xfrm>
          <a:prstGeom prst="roundRect">
            <a:avLst>
              <a:gd name="adj" fmla="val 2858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stores.md</a:t>
            </a:r>
          </a:p>
        </p:txBody>
      </p:sp>
      <p:sp>
        <p:nvSpPr>
          <p:cNvPr id="75" name="原图重建-197"/>
          <p:cNvSpPr>
            <a:spLocks noGrp="1"/>
          </p:cNvSpPr>
          <p:nvPr/>
        </p:nvSpPr>
        <p:spPr>
          <a:xfrm>
            <a:off x="3933807" y="4017933"/>
            <a:ext cx="1553167" cy="204064"/>
          </a:xfrm>
          <a:prstGeom prst="roundRect">
            <a:avLst>
              <a:gd name="adj" fmla="val 3573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（门店地区信息）</a:t>
            </a:r>
          </a:p>
        </p:txBody>
      </p:sp>
      <p:sp>
        <p:nvSpPr>
          <p:cNvPr id="76" name="原图重建-198"/>
          <p:cNvSpPr>
            <a:spLocks noGrp="1"/>
          </p:cNvSpPr>
          <p:nvPr/>
        </p:nvSpPr>
        <p:spPr>
          <a:xfrm>
            <a:off x="3536555" y="4251149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77" name="原图重建-199"/>
          <p:cNvSpPr>
            <a:spLocks noGrp="1"/>
          </p:cNvSpPr>
          <p:nvPr/>
        </p:nvSpPr>
        <p:spPr>
          <a:xfrm>
            <a:off x="3733435" y="4251149"/>
            <a:ext cx="1946928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从文档中提取</a:t>
            </a:r>
          </a:p>
        </p:txBody>
      </p:sp>
      <p:sp>
        <p:nvSpPr>
          <p:cNvPr id="78" name="原图重建-200"/>
          <p:cNvSpPr>
            <a:spLocks noGrp="1"/>
          </p:cNvSpPr>
          <p:nvPr/>
        </p:nvSpPr>
        <p:spPr>
          <a:xfrm>
            <a:off x="3536555" y="4447925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79" name="原图重建-201"/>
          <p:cNvSpPr>
            <a:spLocks noGrp="1"/>
          </p:cNvSpPr>
          <p:nvPr/>
        </p:nvSpPr>
        <p:spPr>
          <a:xfrm>
            <a:off x="3733435" y="4447925"/>
            <a:ext cx="1946928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门店与地区的映射关系</a:t>
            </a:r>
          </a:p>
        </p:txBody>
      </p:sp>
      <p:sp>
        <p:nvSpPr>
          <p:cNvPr id="80" name="原图重建-202"/>
          <p:cNvSpPr>
            <a:spLocks noGrp="1"/>
          </p:cNvSpPr>
          <p:nvPr/>
        </p:nvSpPr>
        <p:spPr>
          <a:xfrm>
            <a:off x="6234545" y="3725289"/>
            <a:ext cx="2625072" cy="1195231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6668">
            <a:solidFill>
              <a:srgbClr val="CBD5E1"/>
            </a:solidFill>
          </a:ln>
        </p:spPr>
      </p:sp>
      <p:sp>
        <p:nvSpPr>
          <p:cNvPr id="82" name="原图重建-203"/>
          <p:cNvSpPr>
            <a:spLocks noGrp="1"/>
          </p:cNvSpPr>
          <p:nvPr/>
        </p:nvSpPr>
        <p:spPr>
          <a:xfrm>
            <a:off x="6857845" y="3755565"/>
            <a:ext cx="1713589" cy="255080"/>
          </a:xfrm>
          <a:prstGeom prst="roundRect">
            <a:avLst>
              <a:gd name="adj" fmla="val 2858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knowledge.md</a:t>
            </a:r>
          </a:p>
        </p:txBody>
      </p:sp>
      <p:sp>
        <p:nvSpPr>
          <p:cNvPr id="83" name="原图重建-204"/>
          <p:cNvSpPr>
            <a:spLocks noGrp="1"/>
          </p:cNvSpPr>
          <p:nvPr/>
        </p:nvSpPr>
        <p:spPr>
          <a:xfrm>
            <a:off x="6865137" y="4017933"/>
            <a:ext cx="1706297" cy="204064"/>
          </a:xfrm>
          <a:prstGeom prst="roundRect">
            <a:avLst>
              <a:gd name="adj" fmla="val 3573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（业务规则）</a:t>
            </a:r>
          </a:p>
        </p:txBody>
      </p:sp>
      <p:sp>
        <p:nvSpPr>
          <p:cNvPr id="84" name="原图重建-205"/>
          <p:cNvSpPr>
            <a:spLocks noGrp="1"/>
          </p:cNvSpPr>
          <p:nvPr/>
        </p:nvSpPr>
        <p:spPr>
          <a:xfrm>
            <a:off x="6467885" y="4251149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5" name="原图重建-206"/>
          <p:cNvSpPr>
            <a:spLocks noGrp="1"/>
          </p:cNvSpPr>
          <p:nvPr/>
        </p:nvSpPr>
        <p:spPr>
          <a:xfrm>
            <a:off x="6664766" y="4251149"/>
            <a:ext cx="2100057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提取“有效订单”的定义</a:t>
            </a:r>
          </a:p>
        </p:txBody>
      </p:sp>
      <p:sp>
        <p:nvSpPr>
          <p:cNvPr id="86" name="原图重建-207"/>
          <p:cNvSpPr>
            <a:spLocks noGrp="1"/>
          </p:cNvSpPr>
          <p:nvPr/>
        </p:nvSpPr>
        <p:spPr>
          <a:xfrm>
            <a:off x="6467885" y="4447925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87" name="原图重建-208"/>
          <p:cNvSpPr>
            <a:spLocks noGrp="1"/>
          </p:cNvSpPr>
          <p:nvPr/>
        </p:nvSpPr>
        <p:spPr>
          <a:xfrm>
            <a:off x="6664766" y="4447925"/>
            <a:ext cx="2100057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统计口径和时间范围</a:t>
            </a:r>
          </a:p>
        </p:txBody>
      </p:sp>
      <p:sp>
        <p:nvSpPr>
          <p:cNvPr id="88" name="原图重建-209"/>
          <p:cNvSpPr>
            <a:spLocks noGrp="1"/>
          </p:cNvSpPr>
          <p:nvPr/>
        </p:nvSpPr>
        <p:spPr>
          <a:xfrm>
            <a:off x="9340880" y="3725289"/>
            <a:ext cx="2493818" cy="1195231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6668">
            <a:solidFill>
              <a:srgbClr val="CBD5E1"/>
            </a:solidFill>
          </a:ln>
        </p:spPr>
      </p:sp>
      <p:sp>
        <p:nvSpPr>
          <p:cNvPr id="90" name="原图重建-210"/>
          <p:cNvSpPr>
            <a:spLocks noGrp="1"/>
          </p:cNvSpPr>
          <p:nvPr/>
        </p:nvSpPr>
        <p:spPr>
          <a:xfrm>
            <a:off x="9820670" y="3827320"/>
            <a:ext cx="1582335" cy="255080"/>
          </a:xfrm>
          <a:prstGeom prst="roundRect">
            <a:avLst>
              <a:gd name="adj" fmla="val 2858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2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整合、关联、计算</a:t>
            </a:r>
          </a:p>
        </p:txBody>
      </p:sp>
      <p:sp>
        <p:nvSpPr>
          <p:cNvPr id="92" name="原图重建-212"/>
          <p:cNvSpPr>
            <a:spLocks noGrp="1"/>
          </p:cNvSpPr>
          <p:nvPr/>
        </p:nvSpPr>
        <p:spPr>
          <a:xfrm>
            <a:off x="9574220" y="4251149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3" name="原图重建-213"/>
          <p:cNvSpPr>
            <a:spLocks noGrp="1"/>
          </p:cNvSpPr>
          <p:nvPr/>
        </p:nvSpPr>
        <p:spPr>
          <a:xfrm>
            <a:off x="9771100" y="4251149"/>
            <a:ext cx="1968804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得到各地区销售额</a:t>
            </a:r>
          </a:p>
        </p:txBody>
      </p:sp>
      <p:sp>
        <p:nvSpPr>
          <p:cNvPr id="94" name="原图重建-214"/>
          <p:cNvSpPr>
            <a:spLocks noGrp="1"/>
          </p:cNvSpPr>
          <p:nvPr/>
        </p:nvSpPr>
        <p:spPr>
          <a:xfrm>
            <a:off x="9574220" y="4447925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5" name="原图重建-215"/>
          <p:cNvSpPr>
            <a:spLocks noGrp="1"/>
          </p:cNvSpPr>
          <p:nvPr/>
        </p:nvSpPr>
        <p:spPr>
          <a:xfrm>
            <a:off x="9771100" y="4447925"/>
            <a:ext cx="1968804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应用金额门槛并排序</a:t>
            </a:r>
          </a:p>
        </p:txBody>
      </p:sp>
      <p:sp>
        <p:nvSpPr>
          <p:cNvPr id="96" name="原图重建-216"/>
          <p:cNvSpPr>
            <a:spLocks noGrp="1"/>
          </p:cNvSpPr>
          <p:nvPr/>
        </p:nvSpPr>
        <p:spPr>
          <a:xfrm>
            <a:off x="9574220" y="4644700"/>
            <a:ext cx="131254" cy="19677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97" name="原图重建-217"/>
          <p:cNvSpPr>
            <a:spLocks noGrp="1"/>
          </p:cNvSpPr>
          <p:nvPr/>
        </p:nvSpPr>
        <p:spPr>
          <a:xfrm>
            <a:off x="9771100" y="4644700"/>
            <a:ext cx="1968804" cy="21864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生成 prediction.csv</a:t>
            </a:r>
          </a:p>
        </p:txBody>
      </p:sp>
      <p:sp>
        <p:nvSpPr>
          <p:cNvPr id="98" name="原图重建-218"/>
          <p:cNvSpPr>
            <a:spLocks noGrp="1"/>
          </p:cNvSpPr>
          <p:nvPr/>
        </p:nvSpPr>
        <p:spPr>
          <a:xfrm>
            <a:off x="2909455" y="4045960"/>
            <a:ext cx="328134" cy="510159"/>
          </a:xfrm>
          <a:prstGeom prst="roundRect">
            <a:avLst>
              <a:gd name="adj" fmla="val 222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+</a:t>
            </a:r>
          </a:p>
        </p:txBody>
      </p:sp>
      <p:sp>
        <p:nvSpPr>
          <p:cNvPr id="99" name="原图重建-219"/>
          <p:cNvSpPr>
            <a:spLocks noGrp="1"/>
          </p:cNvSpPr>
          <p:nvPr/>
        </p:nvSpPr>
        <p:spPr>
          <a:xfrm>
            <a:off x="5826201" y="4045960"/>
            <a:ext cx="328134" cy="510159"/>
          </a:xfrm>
          <a:prstGeom prst="roundRect">
            <a:avLst>
              <a:gd name="adj" fmla="val 2222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333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+</a:t>
            </a:r>
          </a:p>
        </p:txBody>
      </p:sp>
      <p:sp>
        <p:nvSpPr>
          <p:cNvPr id="100" name="原图重建-220"/>
          <p:cNvSpPr>
            <a:spLocks noGrp="1"/>
          </p:cNvSpPr>
          <p:nvPr/>
        </p:nvSpPr>
        <p:spPr>
          <a:xfrm>
            <a:off x="8954411" y="4169856"/>
            <a:ext cx="313550" cy="247792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101" name="原图重建-221"/>
          <p:cNvSpPr>
            <a:spLocks noGrp="1"/>
          </p:cNvSpPr>
          <p:nvPr/>
        </p:nvSpPr>
        <p:spPr>
          <a:xfrm>
            <a:off x="233045" y="5071110"/>
            <a:ext cx="11776075" cy="1783080"/>
          </a:xfrm>
          <a:prstGeom prst="roundRect">
            <a:avLst>
              <a:gd name="adj" fmla="val 4569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02" name="原图重建-222"/>
          <p:cNvSpPr>
            <a:spLocks noGrp="1"/>
          </p:cNvSpPr>
          <p:nvPr/>
        </p:nvSpPr>
        <p:spPr>
          <a:xfrm>
            <a:off x="357301" y="5132996"/>
            <a:ext cx="11229474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6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206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06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数据处理与 Data Agent 的关系</a:t>
            </a:r>
          </a:p>
        </p:txBody>
      </p:sp>
      <p:sp>
        <p:nvSpPr>
          <p:cNvPr id="104" name="原图重建-223"/>
          <p:cNvSpPr>
            <a:spLocks noGrp="1"/>
          </p:cNvSpPr>
          <p:nvPr/>
        </p:nvSpPr>
        <p:spPr>
          <a:xfrm>
            <a:off x="430220" y="5447504"/>
            <a:ext cx="2581321" cy="801679"/>
          </a:xfrm>
          <a:prstGeom prst="roundRect">
            <a:avLst>
              <a:gd name="adj" fmla="val 9096"/>
            </a:avLst>
          </a:prstGeom>
          <a:solidFill>
            <a:srgbClr val="EEF3F8"/>
          </a:solidFill>
          <a:ln w="0">
            <a:noFill/>
          </a:ln>
        </p:spPr>
      </p:sp>
      <p:sp>
        <p:nvSpPr>
          <p:cNvPr id="105" name="圆角矩形 104"/>
          <p:cNvSpPr/>
          <p:nvPr/>
        </p:nvSpPr>
        <p:spPr>
          <a:xfrm>
            <a:off x="2718435" y="5589270"/>
            <a:ext cx="6330315" cy="1192530"/>
          </a:xfrm>
          <a:prstGeom prst="roundRect">
            <a:avLst>
              <a:gd name="adj" fmla="val 12726"/>
            </a:avLst>
          </a:prstGeom>
          <a:solidFill>
            <a:srgbClr val="EEF3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原图重建-231"/>
          <p:cNvSpPr>
            <a:spLocks noGrp="1"/>
          </p:cNvSpPr>
          <p:nvPr/>
        </p:nvSpPr>
        <p:spPr>
          <a:xfrm>
            <a:off x="2206519" y="5949238"/>
            <a:ext cx="320842" cy="218640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grpSp>
        <p:nvGrpSpPr>
          <p:cNvPr id="17" name="组合 16"/>
          <p:cNvGrpSpPr/>
          <p:nvPr/>
        </p:nvGrpSpPr>
        <p:grpSpPr>
          <a:xfrm>
            <a:off x="2849880" y="5732780"/>
            <a:ext cx="1421130" cy="682625"/>
            <a:chOff x="3931" y="9028"/>
            <a:chExt cx="2238" cy="1075"/>
          </a:xfrm>
        </p:grpSpPr>
        <p:sp>
          <p:nvSpPr>
            <p:cNvPr id="116" name="原图重建-233"/>
            <p:cNvSpPr>
              <a:spLocks noGrp="1"/>
            </p:cNvSpPr>
            <p:nvPr/>
          </p:nvSpPr>
          <p:spPr>
            <a:xfrm>
              <a:off x="4440" y="9028"/>
              <a:ext cx="1335" cy="459"/>
            </a:xfrm>
            <a:prstGeom prst="roundRect">
              <a:avLst>
                <a:gd name="adj" fmla="val 25013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rPr>
                <a:t>理解任务</a:t>
              </a:r>
            </a:p>
          </p:txBody>
        </p:sp>
        <p:sp>
          <p:nvSpPr>
            <p:cNvPr id="118" name="原图重建-235"/>
            <p:cNvSpPr>
              <a:spLocks noGrp="1"/>
            </p:cNvSpPr>
            <p:nvPr/>
          </p:nvSpPr>
          <p:spPr>
            <a:xfrm>
              <a:off x="3931" y="9395"/>
              <a:ext cx="2238" cy="708"/>
            </a:xfrm>
            <a:prstGeom prst="roundRect">
              <a:avLst>
                <a:gd name="adj" fmla="val 40021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分析问题</a:t>
              </a:r>
              <a:r>
                <a:rPr lang="en-US" alt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，</a:t>
              </a:r>
              <a:r>
                <a:rPr lang="zh-CN" altLang="en-US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确定目标</a:t>
              </a:r>
            </a:p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判断需要哪些数据和工具</a:t>
              </a:r>
            </a:p>
          </p:txBody>
        </p:sp>
      </p:grpSp>
      <p:sp>
        <p:nvSpPr>
          <p:cNvPr id="119" name="原图重建-236"/>
          <p:cNvSpPr>
            <a:spLocks noGrp="1"/>
          </p:cNvSpPr>
          <p:nvPr/>
        </p:nvSpPr>
        <p:spPr>
          <a:xfrm>
            <a:off x="4404287" y="5935800"/>
            <a:ext cx="131254" cy="16033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4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4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endParaRPr sz="940" b="1">
              <a:solidFill>
                <a:srgbClr val="176AA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1" name="原图重建-238"/>
          <p:cNvSpPr>
            <a:spLocks noGrp="1"/>
          </p:cNvSpPr>
          <p:nvPr/>
        </p:nvSpPr>
        <p:spPr>
          <a:xfrm>
            <a:off x="4404287" y="6096136"/>
            <a:ext cx="131254" cy="160336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4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4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endParaRPr sz="940" b="1">
              <a:solidFill>
                <a:srgbClr val="176AA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123" name="原图重建-240"/>
          <p:cNvSpPr>
            <a:spLocks noGrp="1"/>
          </p:cNvSpPr>
          <p:nvPr/>
        </p:nvSpPr>
        <p:spPr>
          <a:xfrm>
            <a:off x="4595556" y="5949238"/>
            <a:ext cx="320675" cy="218640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139" name="原图重建-254"/>
          <p:cNvSpPr>
            <a:spLocks noGrp="1"/>
          </p:cNvSpPr>
          <p:nvPr/>
        </p:nvSpPr>
        <p:spPr>
          <a:xfrm>
            <a:off x="4085590" y="6501130"/>
            <a:ext cx="4024630" cy="204470"/>
          </a:xfrm>
          <a:prstGeom prst="roundRect">
            <a:avLst>
              <a:gd name="adj" fmla="val 3335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9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9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9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根据 Observation 继续决策，直到完成任务或达到停止条件。</a:t>
            </a:r>
          </a:p>
        </p:txBody>
      </p:sp>
      <p:sp>
        <p:nvSpPr>
          <p:cNvPr id="6" name="原图重建-224"/>
          <p:cNvSpPr>
            <a:spLocks noGrp="1"/>
          </p:cNvSpPr>
          <p:nvPr/>
        </p:nvSpPr>
        <p:spPr>
          <a:xfrm>
            <a:off x="299720" y="5732780"/>
            <a:ext cx="1670050" cy="53975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任务输入</a:t>
            </a:r>
          </a:p>
          <a:p>
            <a:pPr algn="ctr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lang="zh-CN" altLang="en-US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问题</a:t>
            </a:r>
            <a:r>
              <a:rPr lang="en-US" alt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+</a:t>
            </a:r>
            <a:r>
              <a:rPr lang="zh-CN" altLang="en-US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多源数据</a:t>
            </a:r>
            <a:r>
              <a:rPr lang="en-US" alt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5151120" y="5732780"/>
            <a:ext cx="1387475" cy="682625"/>
            <a:chOff x="3854" y="9028"/>
            <a:chExt cx="2315" cy="1075"/>
          </a:xfrm>
        </p:grpSpPr>
        <p:sp>
          <p:nvSpPr>
            <p:cNvPr id="39" name="原图重建-233"/>
            <p:cNvSpPr>
              <a:spLocks noGrp="1"/>
            </p:cNvSpPr>
            <p:nvPr/>
          </p:nvSpPr>
          <p:spPr>
            <a:xfrm>
              <a:off x="3854" y="9028"/>
              <a:ext cx="2314" cy="459"/>
            </a:xfrm>
            <a:prstGeom prst="roundRect">
              <a:avLst>
                <a:gd name="adj" fmla="val 25013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rPr>
                <a:t>选择并调用工具</a:t>
              </a:r>
            </a:p>
          </p:txBody>
        </p:sp>
        <p:sp>
          <p:nvSpPr>
            <p:cNvPr id="50" name="原图重建-235"/>
            <p:cNvSpPr>
              <a:spLocks noGrp="1"/>
            </p:cNvSpPr>
            <p:nvPr/>
          </p:nvSpPr>
          <p:spPr>
            <a:xfrm>
              <a:off x="3931" y="9395"/>
              <a:ext cx="2238" cy="708"/>
            </a:xfrm>
            <a:prstGeom prst="roundRect">
              <a:avLst>
                <a:gd name="adj" fmla="val 40021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读取文件</a:t>
              </a:r>
              <a:r>
                <a:rPr lang="en-US" alt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/</a:t>
              </a:r>
              <a:r>
                <a:rPr lang="zh-CN" altLang="en-US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查询数据</a:t>
              </a:r>
            </a:p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执行数据处理与计算</a:t>
              </a:r>
            </a:p>
          </p:txBody>
        </p:sp>
      </p:grpSp>
      <p:sp>
        <p:nvSpPr>
          <p:cNvPr id="60" name="原图重建-240"/>
          <p:cNvSpPr>
            <a:spLocks noGrp="1"/>
          </p:cNvSpPr>
          <p:nvPr/>
        </p:nvSpPr>
        <p:spPr>
          <a:xfrm>
            <a:off x="6769161" y="5949238"/>
            <a:ext cx="320675" cy="218640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grpSp>
        <p:nvGrpSpPr>
          <p:cNvPr id="63" name="组合 62"/>
          <p:cNvGrpSpPr/>
          <p:nvPr/>
        </p:nvGrpSpPr>
        <p:grpSpPr>
          <a:xfrm>
            <a:off x="7418705" y="5732780"/>
            <a:ext cx="1466850" cy="682625"/>
            <a:chOff x="3854" y="9028"/>
            <a:chExt cx="2447" cy="1075"/>
          </a:xfrm>
        </p:grpSpPr>
        <p:sp>
          <p:nvSpPr>
            <p:cNvPr id="73" name="原图重建-233"/>
            <p:cNvSpPr>
              <a:spLocks noGrp="1"/>
            </p:cNvSpPr>
            <p:nvPr/>
          </p:nvSpPr>
          <p:spPr>
            <a:xfrm>
              <a:off x="3854" y="9028"/>
              <a:ext cx="2314" cy="459"/>
            </a:xfrm>
            <a:prstGeom prst="roundRect">
              <a:avLst>
                <a:gd name="adj" fmla="val 25013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altLang="en-US" sz="1335" b="1">
                  <a:solidFill>
                    <a:srgbClr val="176AA6"/>
                  </a:solidFill>
                  <a:latin typeface="Noto Sans SC"/>
                  <a:ea typeface="Noto Sans SC"/>
                  <a:cs typeface="Noto Sans SC"/>
                </a:rPr>
                <a:t>观察结果并反思</a:t>
              </a:r>
            </a:p>
          </p:txBody>
        </p:sp>
        <p:sp>
          <p:nvSpPr>
            <p:cNvPr id="81" name="原图重建-235"/>
            <p:cNvSpPr>
              <a:spLocks noGrp="1"/>
            </p:cNvSpPr>
            <p:nvPr/>
          </p:nvSpPr>
          <p:spPr>
            <a:xfrm>
              <a:off x="3931" y="9395"/>
              <a:ext cx="2370" cy="708"/>
            </a:xfrm>
            <a:prstGeom prst="roundRect">
              <a:avLst>
                <a:gd name="adj" fmla="val 40021"/>
              </a:avLst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defPPr>
            </a:lstStyle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检查结果或错误信息</a:t>
              </a:r>
            </a:p>
            <a:p>
              <a:pPr algn="l">
                <a:defRPr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defRPr>
              </a:pPr>
              <a:r>
                <a:rPr lang="zh-CN" sz="940" b="0">
                  <a:solidFill>
                    <a:srgbClr val="18314A"/>
                  </a:solidFill>
                  <a:latin typeface="Noto Sans SC"/>
                  <a:ea typeface="Noto Sans SC"/>
                  <a:cs typeface="Noto Sans SC"/>
                </a:rPr>
                <a:t>判断是否需要进一步处理</a:t>
              </a:r>
            </a:p>
          </p:txBody>
        </p:sp>
      </p:grpSp>
      <p:sp>
        <p:nvSpPr>
          <p:cNvPr id="89" name="原图重建-224"/>
          <p:cNvSpPr>
            <a:spLocks noGrp="1"/>
          </p:cNvSpPr>
          <p:nvPr/>
        </p:nvSpPr>
        <p:spPr>
          <a:xfrm>
            <a:off x="9765665" y="5732780"/>
            <a:ext cx="1670050" cy="53975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输出预测结果</a:t>
            </a:r>
          </a:p>
          <a:p>
            <a:pPr algn="ctr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en-US" altLang="zh-CN"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prediction.csv</a:t>
            </a:r>
          </a:p>
        </p:txBody>
      </p:sp>
      <p:sp>
        <p:nvSpPr>
          <p:cNvPr id="103" name="原图重建-240"/>
          <p:cNvSpPr>
            <a:spLocks noGrp="1"/>
          </p:cNvSpPr>
          <p:nvPr/>
        </p:nvSpPr>
        <p:spPr>
          <a:xfrm>
            <a:off x="9301541" y="5949238"/>
            <a:ext cx="320675" cy="218640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原图重建-382"/>
          <p:cNvSpPr>
            <a:spLocks noGrp="1"/>
          </p:cNvSpPr>
          <p:nvPr/>
        </p:nvSpPr>
        <p:spPr>
          <a:xfrm>
            <a:off x="350010" y="116608"/>
            <a:ext cx="11484689" cy="539311"/>
          </a:xfrm>
          <a:prstGeom prst="roundRect">
            <a:avLst>
              <a:gd name="adj" fmla="val 1352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16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316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316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要实现的程序：模型、工具与主循环如何协作</a:t>
            </a:r>
          </a:p>
        </p:txBody>
      </p:sp>
      <p:sp>
        <p:nvSpPr>
          <p:cNvPr id="2" name="原图重建-383"/>
          <p:cNvSpPr>
            <a:spLocks noGrp="1"/>
          </p:cNvSpPr>
          <p:nvPr/>
        </p:nvSpPr>
        <p:spPr>
          <a:xfrm>
            <a:off x="350010" y="655919"/>
            <a:ext cx="11484689" cy="393552"/>
          </a:xfrm>
          <a:prstGeom prst="roundRect">
            <a:avLst>
              <a:gd name="adj" fmla="val 1852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430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本项目需要实现以下系统组件，使模型决策、工具执行和结果保存自动协作</a:t>
            </a:r>
          </a:p>
        </p:txBody>
      </p:sp>
      <p:sp>
        <p:nvSpPr>
          <p:cNvPr id="3" name="原图重建-384"/>
          <p:cNvSpPr>
            <a:spLocks noGrp="1"/>
          </p:cNvSpPr>
          <p:nvPr/>
        </p:nvSpPr>
        <p:spPr>
          <a:xfrm>
            <a:off x="11302392" y="6551904"/>
            <a:ext cx="692727" cy="204064"/>
          </a:xfrm>
          <a:prstGeom prst="roundRect">
            <a:avLst>
              <a:gd name="adj" fmla="val 3573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9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r">
              <a:defRPr sz="9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99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05 / 09</a:t>
            </a:r>
          </a:p>
        </p:txBody>
      </p:sp>
      <p:sp>
        <p:nvSpPr>
          <p:cNvPr id="4" name="原图重建-385"/>
          <p:cNvSpPr>
            <a:spLocks noGrp="1"/>
          </p:cNvSpPr>
          <p:nvPr/>
        </p:nvSpPr>
        <p:spPr>
          <a:xfrm>
            <a:off x="313550" y="1348278"/>
            <a:ext cx="1859426" cy="1224383"/>
          </a:xfrm>
          <a:prstGeom prst="roundRect">
            <a:avLst>
              <a:gd name="adj" fmla="val 5956"/>
            </a:avLst>
          </a:prstGeom>
          <a:solidFill>
            <a:srgbClr val="EEF3F8"/>
          </a:solidFill>
          <a:ln w="6668">
            <a:solidFill>
              <a:srgbClr val="176AA6"/>
            </a:solidFill>
          </a:ln>
        </p:spPr>
      </p:sp>
      <p:sp>
        <p:nvSpPr>
          <p:cNvPr id="6" name="原图重建-386"/>
          <p:cNvSpPr>
            <a:spLocks noGrp="1"/>
          </p:cNvSpPr>
          <p:nvPr/>
        </p:nvSpPr>
        <p:spPr>
          <a:xfrm>
            <a:off x="584388" y="1537766"/>
            <a:ext cx="1552129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3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38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任务输入</a:t>
            </a:r>
          </a:p>
        </p:txBody>
      </p:sp>
      <p:sp>
        <p:nvSpPr>
          <p:cNvPr id="7" name="原图重建-387"/>
          <p:cNvSpPr>
            <a:spLocks noGrp="1"/>
          </p:cNvSpPr>
          <p:nvPr/>
        </p:nvSpPr>
        <p:spPr>
          <a:xfrm>
            <a:off x="430220" y="1894878"/>
            <a:ext cx="1618794" cy="561175"/>
          </a:xfrm>
          <a:prstGeom prst="roundRect">
            <a:avLst>
              <a:gd name="adj" fmla="val 12994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8" name="原图重建-388"/>
          <p:cNvSpPr>
            <a:spLocks noGrp="1"/>
          </p:cNvSpPr>
          <p:nvPr/>
        </p:nvSpPr>
        <p:spPr>
          <a:xfrm>
            <a:off x="583349" y="1967758"/>
            <a:ext cx="1472957" cy="444567"/>
          </a:xfrm>
          <a:prstGeom prst="roundRect">
            <a:avLst>
              <a:gd name="adj" fmla="val 16402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task.json +</a:t>
            </a:r>
          </a:p>
          <a:p>
            <a:pPr algn="l">
              <a:def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2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context/ 数据目录</a:t>
            </a:r>
          </a:p>
        </p:txBody>
      </p:sp>
      <p:sp>
        <p:nvSpPr>
          <p:cNvPr id="9" name="原图重建-389"/>
          <p:cNvSpPr>
            <a:spLocks noGrp="1"/>
          </p:cNvSpPr>
          <p:nvPr/>
        </p:nvSpPr>
        <p:spPr>
          <a:xfrm>
            <a:off x="3075150" y="1122351"/>
            <a:ext cx="7466871" cy="2084366"/>
          </a:xfrm>
          <a:prstGeom prst="roundRect">
            <a:avLst>
              <a:gd name="adj" fmla="val 3498"/>
            </a:avLst>
          </a:prstGeom>
          <a:solidFill>
            <a:srgbClr val="FFFFFF"/>
          </a:solidFill>
          <a:ln w="6668">
            <a:solidFill>
              <a:srgbClr val="176AA6"/>
            </a:solidFill>
          </a:ln>
        </p:spPr>
      </p:sp>
      <p:sp>
        <p:nvSpPr>
          <p:cNvPr id="10" name="原图重建-390"/>
          <p:cNvSpPr>
            <a:spLocks noGrp="1"/>
          </p:cNvSpPr>
          <p:nvPr/>
        </p:nvSpPr>
        <p:spPr>
          <a:xfrm>
            <a:off x="3213696" y="1275399"/>
            <a:ext cx="1954220" cy="1508614"/>
          </a:xfrm>
          <a:prstGeom prst="roundRect">
            <a:avLst>
              <a:gd name="adj" fmla="val 4833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12" name="原图重建-391"/>
          <p:cNvSpPr>
            <a:spLocks noGrp="1"/>
          </p:cNvSpPr>
          <p:nvPr/>
        </p:nvSpPr>
        <p:spPr>
          <a:xfrm>
            <a:off x="3344949" y="1348278"/>
            <a:ext cx="1793799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Agent 主程序 /</a:t>
            </a:r>
          </a:p>
          <a:p>
            <a:pPr algn="l">
              <a:def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Harness</a:t>
            </a:r>
          </a:p>
        </p:txBody>
      </p:sp>
      <p:sp>
        <p:nvSpPr>
          <p:cNvPr id="13" name="原图重建-392"/>
          <p:cNvSpPr>
            <a:spLocks noGrp="1"/>
          </p:cNvSpPr>
          <p:nvPr/>
        </p:nvSpPr>
        <p:spPr>
          <a:xfrm>
            <a:off x="3410576" y="1851150"/>
            <a:ext cx="131254" cy="21864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4" name="原图重建-393"/>
          <p:cNvSpPr>
            <a:spLocks noGrp="1"/>
          </p:cNvSpPr>
          <p:nvPr/>
        </p:nvSpPr>
        <p:spPr>
          <a:xfrm>
            <a:off x="3607456" y="1851150"/>
            <a:ext cx="1502124" cy="240504"/>
          </a:xfrm>
          <a:prstGeom prst="roundRect">
            <a:avLst>
              <a:gd name="adj" fmla="val 30319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读取任务与文件清单</a:t>
            </a:r>
          </a:p>
        </p:txBody>
      </p:sp>
      <p:sp>
        <p:nvSpPr>
          <p:cNvPr id="15" name="原图重建-394"/>
          <p:cNvSpPr>
            <a:spLocks noGrp="1"/>
          </p:cNvSpPr>
          <p:nvPr/>
        </p:nvSpPr>
        <p:spPr>
          <a:xfrm>
            <a:off x="3410576" y="2069790"/>
            <a:ext cx="131254" cy="21864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6" name="原图重建-395"/>
          <p:cNvSpPr>
            <a:spLocks noGrp="1"/>
          </p:cNvSpPr>
          <p:nvPr/>
        </p:nvSpPr>
        <p:spPr>
          <a:xfrm>
            <a:off x="3607456" y="2069790"/>
            <a:ext cx="1502124" cy="240504"/>
          </a:xfrm>
          <a:prstGeom prst="roundRect">
            <a:avLst>
              <a:gd name="adj" fmla="val 30319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保存操作历史与反馈</a:t>
            </a:r>
          </a:p>
        </p:txBody>
      </p:sp>
      <p:sp>
        <p:nvSpPr>
          <p:cNvPr id="17" name="原图重建-396"/>
          <p:cNvSpPr>
            <a:spLocks noGrp="1"/>
          </p:cNvSpPr>
          <p:nvPr/>
        </p:nvSpPr>
        <p:spPr>
          <a:xfrm>
            <a:off x="3410576" y="2288429"/>
            <a:ext cx="131254" cy="21864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18" name="原图重建-397"/>
          <p:cNvSpPr>
            <a:spLocks noGrp="1"/>
          </p:cNvSpPr>
          <p:nvPr/>
        </p:nvSpPr>
        <p:spPr>
          <a:xfrm>
            <a:off x="3607456" y="2288429"/>
            <a:ext cx="1502124" cy="240504"/>
          </a:xfrm>
          <a:prstGeom prst="roundRect">
            <a:avLst>
              <a:gd name="adj" fmla="val 30319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调用模型与工具</a:t>
            </a:r>
          </a:p>
        </p:txBody>
      </p:sp>
      <p:sp>
        <p:nvSpPr>
          <p:cNvPr id="19" name="原图重建-398"/>
          <p:cNvSpPr>
            <a:spLocks noGrp="1"/>
          </p:cNvSpPr>
          <p:nvPr/>
        </p:nvSpPr>
        <p:spPr>
          <a:xfrm>
            <a:off x="3410576" y="2507069"/>
            <a:ext cx="131254" cy="218640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0" name="原图重建-399"/>
          <p:cNvSpPr>
            <a:spLocks noGrp="1"/>
          </p:cNvSpPr>
          <p:nvPr/>
        </p:nvSpPr>
        <p:spPr>
          <a:xfrm>
            <a:off x="3607456" y="2507069"/>
            <a:ext cx="1502124" cy="240504"/>
          </a:xfrm>
          <a:prstGeom prst="roundRect">
            <a:avLst>
              <a:gd name="adj" fmla="val 30319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控制循环与停止条件</a:t>
            </a:r>
          </a:p>
        </p:txBody>
      </p:sp>
      <p:sp>
        <p:nvSpPr>
          <p:cNvPr id="21" name="原图重建-400"/>
          <p:cNvSpPr>
            <a:spLocks noGrp="1"/>
          </p:cNvSpPr>
          <p:nvPr/>
        </p:nvSpPr>
        <p:spPr>
          <a:xfrm>
            <a:off x="6079399" y="1275399"/>
            <a:ext cx="1750048" cy="857250"/>
          </a:xfrm>
          <a:prstGeom prst="roundRect">
            <a:avLst>
              <a:gd name="adj" fmla="val 4833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23" name="原图重建-401"/>
          <p:cNvSpPr>
            <a:spLocks noGrp="1"/>
          </p:cNvSpPr>
          <p:nvPr/>
        </p:nvSpPr>
        <p:spPr>
          <a:xfrm>
            <a:off x="6196069" y="1343025"/>
            <a:ext cx="1604210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99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LLM（负责决策）</a:t>
            </a:r>
          </a:p>
        </p:txBody>
      </p:sp>
      <p:sp>
        <p:nvSpPr>
          <p:cNvPr id="24" name="原图重建-402"/>
          <p:cNvSpPr>
            <a:spLocks noGrp="1"/>
          </p:cNvSpPr>
          <p:nvPr/>
        </p:nvSpPr>
        <p:spPr>
          <a:xfrm>
            <a:off x="6211816" y="1647825"/>
            <a:ext cx="131254" cy="240504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5" name="原图重建-403"/>
          <p:cNvSpPr>
            <a:spLocks noGrp="1"/>
          </p:cNvSpPr>
          <p:nvPr/>
        </p:nvSpPr>
        <p:spPr>
          <a:xfrm>
            <a:off x="6374765" y="1647825"/>
            <a:ext cx="1400175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理解任务，选择操作</a:t>
            </a:r>
          </a:p>
        </p:txBody>
      </p:sp>
      <p:sp>
        <p:nvSpPr>
          <p:cNvPr id="26" name="原图重建-404"/>
          <p:cNvSpPr>
            <a:spLocks noGrp="1"/>
          </p:cNvSpPr>
          <p:nvPr/>
        </p:nvSpPr>
        <p:spPr>
          <a:xfrm>
            <a:off x="6211816" y="1895475"/>
            <a:ext cx="131254" cy="240504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27" name="原图重建-405"/>
          <p:cNvSpPr>
            <a:spLocks noGrp="1"/>
          </p:cNvSpPr>
          <p:nvPr/>
        </p:nvSpPr>
        <p:spPr>
          <a:xfrm>
            <a:off x="6374765" y="1895475"/>
            <a:ext cx="1400175" cy="262368"/>
          </a:xfrm>
          <a:prstGeom prst="roundRect">
            <a:avLst>
              <a:gd name="adj" fmla="val 2779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3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根据反馈修正操作</a:t>
            </a:r>
          </a:p>
        </p:txBody>
      </p:sp>
      <p:sp>
        <p:nvSpPr>
          <p:cNvPr id="30" name="原图重建-408"/>
          <p:cNvSpPr>
            <a:spLocks noGrp="1"/>
          </p:cNvSpPr>
          <p:nvPr/>
        </p:nvSpPr>
        <p:spPr>
          <a:xfrm>
            <a:off x="6079490" y="2247900"/>
            <a:ext cx="1752600" cy="857250"/>
          </a:xfrm>
          <a:prstGeom prst="roundRect">
            <a:avLst>
              <a:gd name="adj" fmla="val 4833"/>
            </a:avLst>
          </a:prstGeom>
          <a:solidFill>
            <a:srgbClr val="EEF3F8"/>
          </a:solidFill>
          <a:ln w="6668">
            <a:solidFill>
              <a:srgbClr val="CBD5E1"/>
            </a:solidFill>
          </a:ln>
        </p:spPr>
      </p:sp>
      <p:sp>
        <p:nvSpPr>
          <p:cNvPr id="32" name="原图重建-409"/>
          <p:cNvSpPr>
            <a:spLocks noGrp="1"/>
          </p:cNvSpPr>
          <p:nvPr/>
        </p:nvSpPr>
        <p:spPr>
          <a:xfrm>
            <a:off x="6193790" y="2305050"/>
            <a:ext cx="1600200" cy="28575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工具系统（负责执行）</a:t>
            </a:r>
          </a:p>
          <a:p>
            <a:pPr algn="l">
              <a:defRPr sz="11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endParaRPr sz="1185" b="1">
              <a:solidFill>
                <a:srgbClr val="176AA6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33" name="原图重建-410"/>
          <p:cNvSpPr>
            <a:spLocks noGrp="1"/>
          </p:cNvSpPr>
          <p:nvPr/>
        </p:nvSpPr>
        <p:spPr>
          <a:xfrm>
            <a:off x="6279515" y="2609850"/>
            <a:ext cx="131254" cy="18948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4" name="原图重建-411"/>
          <p:cNvSpPr>
            <a:spLocks noGrp="1"/>
          </p:cNvSpPr>
          <p:nvPr/>
        </p:nvSpPr>
        <p:spPr>
          <a:xfrm>
            <a:off x="6479540" y="2609850"/>
            <a:ext cx="1295400" cy="211352"/>
          </a:xfrm>
          <a:prstGeom prst="roundRect">
            <a:avLst>
              <a:gd name="adj" fmla="val 3450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读取与处理数据</a:t>
            </a:r>
          </a:p>
        </p:txBody>
      </p:sp>
      <p:sp>
        <p:nvSpPr>
          <p:cNvPr id="35" name="原图重建-412"/>
          <p:cNvSpPr>
            <a:spLocks noGrp="1"/>
          </p:cNvSpPr>
          <p:nvPr/>
        </p:nvSpPr>
        <p:spPr>
          <a:xfrm>
            <a:off x="6279515" y="2838450"/>
            <a:ext cx="131254" cy="189488"/>
          </a:xfrm>
          <a:prstGeom prst="roundRect">
            <a:avLst>
              <a:gd name="adj" fmla="val 50000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•</a:t>
            </a:r>
          </a:p>
        </p:txBody>
      </p:sp>
      <p:sp>
        <p:nvSpPr>
          <p:cNvPr id="36" name="原图重建-413"/>
          <p:cNvSpPr>
            <a:spLocks noGrp="1"/>
          </p:cNvSpPr>
          <p:nvPr/>
        </p:nvSpPr>
        <p:spPr>
          <a:xfrm>
            <a:off x="6479540" y="2838450"/>
            <a:ext cx="1295400" cy="211352"/>
          </a:xfrm>
          <a:prstGeom prst="roundRect">
            <a:avLst>
              <a:gd name="adj" fmla="val 3450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0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计算、保存结果</a:t>
            </a:r>
          </a:p>
        </p:txBody>
      </p:sp>
      <p:sp>
        <p:nvSpPr>
          <p:cNvPr id="43" name="原图重建-420"/>
          <p:cNvSpPr>
            <a:spLocks noGrp="1"/>
          </p:cNvSpPr>
          <p:nvPr/>
        </p:nvSpPr>
        <p:spPr>
          <a:xfrm>
            <a:off x="8736965" y="2247900"/>
            <a:ext cx="1666875" cy="857250"/>
          </a:xfrm>
          <a:prstGeom prst="roundRect">
            <a:avLst>
              <a:gd name="adj" fmla="val 5653"/>
            </a:avLst>
          </a:prstGeom>
          <a:solidFill>
            <a:srgbClr val="EEF3F8"/>
          </a:solidFill>
          <a:ln w="6668">
            <a:solidFill>
              <a:srgbClr val="176AA6"/>
            </a:solidFill>
          </a:ln>
        </p:spPr>
      </p:sp>
      <p:sp>
        <p:nvSpPr>
          <p:cNvPr id="45" name="原图重建-421"/>
          <p:cNvSpPr>
            <a:spLocks noGrp="1"/>
          </p:cNvSpPr>
          <p:nvPr/>
        </p:nvSpPr>
        <p:spPr>
          <a:xfrm>
            <a:off x="8898890" y="2314575"/>
            <a:ext cx="1457325" cy="291520"/>
          </a:xfrm>
          <a:prstGeom prst="roundRect">
            <a:avLst>
              <a:gd name="adj" fmla="val 2501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33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输出结果</a:t>
            </a:r>
          </a:p>
        </p:txBody>
      </p:sp>
      <p:sp>
        <p:nvSpPr>
          <p:cNvPr id="46" name="原图重建-422"/>
          <p:cNvSpPr>
            <a:spLocks noGrp="1"/>
          </p:cNvSpPr>
          <p:nvPr/>
        </p:nvSpPr>
        <p:spPr>
          <a:xfrm>
            <a:off x="8860790" y="2647950"/>
            <a:ext cx="1409700" cy="381000"/>
          </a:xfrm>
          <a:prstGeom prst="roundRect">
            <a:avLst>
              <a:gd name="adj" fmla="val 12827"/>
            </a:avLst>
          </a:prstGeom>
          <a:solidFill>
            <a:srgbClr val="FFFFFF"/>
          </a:solidFill>
          <a:ln w="0">
            <a:noFill/>
          </a:ln>
        </p:spPr>
      </p:sp>
      <p:sp>
        <p:nvSpPr>
          <p:cNvPr id="47" name="原图重建-423"/>
          <p:cNvSpPr>
            <a:spLocks noGrp="1"/>
          </p:cNvSpPr>
          <p:nvPr/>
        </p:nvSpPr>
        <p:spPr>
          <a:xfrm>
            <a:off x="8936990" y="2686050"/>
            <a:ext cx="1333500" cy="361950"/>
          </a:xfrm>
          <a:prstGeom prst="roundRect">
            <a:avLst>
              <a:gd name="adj" fmla="val 15633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prediction.csv +</a:t>
            </a:r>
          </a:p>
          <a:p>
            <a:pPr algn="l">
              <a:def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1185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运行日志</a:t>
            </a:r>
          </a:p>
        </p:txBody>
      </p:sp>
      <p:sp>
        <p:nvSpPr>
          <p:cNvPr id="48" name="原图重建-424"/>
          <p:cNvSpPr>
            <a:spLocks noGrp="1"/>
          </p:cNvSpPr>
          <p:nvPr/>
        </p:nvSpPr>
        <p:spPr>
          <a:xfrm>
            <a:off x="2453868" y="1836574"/>
            <a:ext cx="306258" cy="189488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49" name="原图重建-425"/>
          <p:cNvSpPr>
            <a:spLocks noGrp="1"/>
          </p:cNvSpPr>
          <p:nvPr/>
        </p:nvSpPr>
        <p:spPr>
          <a:xfrm>
            <a:off x="5226251" y="1657350"/>
            <a:ext cx="787522" cy="131184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50" name="原图重建-426"/>
          <p:cNvSpPr>
            <a:spLocks noGrp="1"/>
          </p:cNvSpPr>
          <p:nvPr/>
        </p:nvSpPr>
        <p:spPr>
          <a:xfrm>
            <a:off x="5211667" y="1457325"/>
            <a:ext cx="816689" cy="196776"/>
          </a:xfrm>
          <a:prstGeom prst="roundRect">
            <a:avLst>
              <a:gd name="adj" fmla="val 37057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任务 / 反馈</a:t>
            </a:r>
          </a:p>
        </p:txBody>
      </p:sp>
      <p:sp>
        <p:nvSpPr>
          <p:cNvPr id="51" name="原图重建-427"/>
          <p:cNvSpPr>
            <a:spLocks noGrp="1"/>
          </p:cNvSpPr>
          <p:nvPr/>
        </p:nvSpPr>
        <p:spPr>
          <a:xfrm flipH="1">
            <a:off x="5226251" y="1914525"/>
            <a:ext cx="787522" cy="131184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52" name="原图重建-428"/>
          <p:cNvSpPr>
            <a:spLocks noGrp="1"/>
          </p:cNvSpPr>
          <p:nvPr/>
        </p:nvSpPr>
        <p:spPr>
          <a:xfrm>
            <a:off x="5306461" y="2066925"/>
            <a:ext cx="802105" cy="182200"/>
          </a:xfrm>
          <a:prstGeom prst="roundRect">
            <a:avLst>
              <a:gd name="adj" fmla="val 40021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l">
              <a:def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9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操作请求</a:t>
            </a:r>
          </a:p>
        </p:txBody>
      </p:sp>
      <p:sp>
        <p:nvSpPr>
          <p:cNvPr id="53" name="原图重建-429"/>
          <p:cNvSpPr>
            <a:spLocks noGrp="1"/>
          </p:cNvSpPr>
          <p:nvPr/>
        </p:nvSpPr>
        <p:spPr>
          <a:xfrm>
            <a:off x="5222240" y="2476500"/>
            <a:ext cx="787522" cy="131184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54" name="原图重建-430"/>
          <p:cNvSpPr>
            <a:spLocks noGrp="1"/>
          </p:cNvSpPr>
          <p:nvPr/>
        </p:nvSpPr>
        <p:spPr>
          <a:xfrm>
            <a:off x="5212715" y="2286000"/>
            <a:ext cx="809397" cy="190500"/>
          </a:xfrm>
          <a:prstGeom prst="roundRect">
            <a:avLst>
              <a:gd name="adj" fmla="val 22234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调用工具</a:t>
            </a:r>
          </a:p>
          <a:p>
            <a:pPr algn="ctr">
              <a:defRPr sz="84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endParaRPr sz="84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5" name="原图重建-431"/>
          <p:cNvSpPr>
            <a:spLocks noGrp="1"/>
          </p:cNvSpPr>
          <p:nvPr/>
        </p:nvSpPr>
        <p:spPr>
          <a:xfrm flipH="1">
            <a:off x="5222240" y="2752725"/>
            <a:ext cx="787522" cy="131184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sp>
        <p:nvSpPr>
          <p:cNvPr id="56" name="原图重建-432"/>
          <p:cNvSpPr>
            <a:spLocks noGrp="1"/>
          </p:cNvSpPr>
          <p:nvPr/>
        </p:nvSpPr>
        <p:spPr>
          <a:xfrm>
            <a:off x="5212715" y="2914650"/>
            <a:ext cx="875024" cy="190500"/>
          </a:xfrm>
          <a:prstGeom prst="roundRect">
            <a:avLst>
              <a:gd name="adj" fmla="val 18878"/>
            </a:avLst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 algn="ctr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结果 / 错误</a:t>
            </a:r>
          </a:p>
          <a:p>
            <a:pPr algn="ctr">
              <a:defRPr sz="79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endParaRPr sz="79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  <p:sp>
        <p:nvSpPr>
          <p:cNvPr id="57" name="原图重建-433"/>
          <p:cNvSpPr>
            <a:spLocks noGrp="1"/>
          </p:cNvSpPr>
          <p:nvPr/>
        </p:nvSpPr>
        <p:spPr>
          <a:xfrm>
            <a:off x="7898765" y="2657475"/>
            <a:ext cx="781050" cy="133350"/>
          </a:xfrm>
          <a:prstGeom prst="rightArrow">
            <a:avLst/>
          </a:prstGeom>
          <a:solidFill>
            <a:srgbClr val="176AA6"/>
          </a:solidFill>
          <a:ln w="0">
            <a:noFill/>
          </a:ln>
        </p:spPr>
      </p:sp>
      <p:graphicFrame>
        <p:nvGraphicFramePr>
          <p:cNvPr id="64" name="表格 63"/>
          <p:cNvGraphicFramePr/>
          <p:nvPr>
            <p:custDataLst>
              <p:tags r:id="rId1"/>
            </p:custDataLst>
          </p:nvPr>
        </p:nvGraphicFramePr>
        <p:xfrm>
          <a:off x="335280" y="3338830"/>
          <a:ext cx="11521440" cy="3077210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9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系统组件</a:t>
                      </a:r>
                      <a:endParaRPr sz="118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学生需要具体实现什么</a:t>
                      </a:r>
                      <a:endParaRPr sz="1185" b="1">
                        <a:solidFill>
                          <a:srgbClr val="FFFFFF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230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LLM（模型接入与决策）</a:t>
                      </a:r>
                      <a:endParaRPr sz="1150" b="1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配置模型 API 与提示词，提供题目、数据目录和工具说明。让模型返回工具名称与参数，或明确的完成信号，根据工具反馈继续决策。</a:t>
                      </a:r>
                      <a:endParaRPr sz="1150" b="0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35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Agent 主程序 / Harness</a:t>
                      </a:r>
                      <a:endParaRPr sz="1150" b="1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每题独立初始化状态与工作目录，保存操作历史和工具反馈。解析模型请求并调用工具，将结果加入上下文。控制正常完成、最大轮数与超时，批量运行 60 题，失败时记录原因并继续。</a:t>
                      </a:r>
                      <a:endParaRPr sz="1150" b="0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03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工具系统</a:t>
                      </a:r>
                      <a:endParaRPr sz="1150" b="1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实现文件查看、表格读取、数据库查询、文档或视频信息提取和结果保存等工具，按任务需要调用。定义参数与返回格式，将数据、计算结果或错误交回主程序。</a:t>
                      </a:r>
                      <a:endParaRPr sz="1150" b="0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620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结果保存与独立评测</a:t>
                      </a:r>
                      <a:endParaRPr sz="1150" b="1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</a:pPr>
                      <a:r>
                        <a:rPr sz="145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每题按规范保存 prediction.csv，检查文件是否可读取、输出是否符合题目要求。记录执行步骤、错误与耗时，汇总 60 题状态，预测完成后用课程统一评分程序独立评测。</a:t>
                      </a:r>
                      <a:endParaRPr sz="1150" b="0">
                        <a:solidFill>
                          <a:srgbClr val="18314A"/>
                        </a:solidFill>
                        <a:latin typeface="Noto Sans SC"/>
                        <a:ea typeface="Noto Sans SC"/>
                        <a:cs typeface="Noto Sans SC"/>
                      </a:endParaRPr>
                    </a:p>
                  </a:txBody>
                  <a:tcPr marL="95250" marR="95250" marT="0" marB="0" anchor="ctr">
                    <a:lnL w="5000">
                      <a:solidFill>
                        <a:srgbClr val="CBD5E1"/>
                      </a:solidFill>
                    </a:lnL>
                    <a:lnR w="5000">
                      <a:solidFill>
                        <a:srgbClr val="CBD5E1"/>
                      </a:solidFill>
                    </a:lnR>
                    <a:lnT w="5000">
                      <a:solidFill>
                        <a:srgbClr val="CBD5E1"/>
                      </a:solidFill>
                    </a:lnT>
                    <a:lnB w="5000">
                      <a:solidFill>
                        <a:srgbClr val="CBD5E1"/>
                      </a:solidFill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-22"/>
          <p:cNvSpPr>
            <a:spLocks noGrp="1"/>
          </p:cNvSpPr>
          <p:nvPr/>
        </p:nvSpPr>
        <p:spPr>
          <a:xfrm>
            <a:off x="514350" y="304800"/>
            <a:ext cx="111633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850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项目收获：系统实践与可展示的项目经历</a:t>
            </a:r>
          </a:p>
        </p:txBody>
      </p:sp>
      <p:sp>
        <p:nvSpPr>
          <p:cNvPr id="2" name="正文-23"/>
          <p:cNvSpPr>
            <a:spLocks noGrp="1"/>
          </p:cNvSpPr>
          <p:nvPr/>
        </p:nvSpPr>
        <p:spPr>
          <a:xfrm>
            <a:off x="514350" y="971550"/>
            <a:ext cx="111633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725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725" b="0">
                <a:solidFill>
                  <a:srgbClr val="176AA6"/>
                </a:solidFill>
                <a:latin typeface="Noto Sans SC"/>
                <a:ea typeface="Noto Sans SC"/>
                <a:cs typeface="Noto Sans SC"/>
              </a:defRPr>
            </a:pPr>
            <a:r>
              <a:rPr sz="1725" b="0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通过实际开发与 60 题实验，理解 Agent 的运行机制，积累数据处理与系统改进经验</a:t>
            </a:r>
          </a:p>
        </p:txBody>
      </p:sp>
      <p:sp>
        <p:nvSpPr>
          <p:cNvPr id="3" name="作业说明-24"/>
          <p:cNvSpPr>
            <a:spLocks noGrp="1"/>
          </p:cNvSpPr>
          <p:nvPr/>
        </p:nvSpPr>
        <p:spPr>
          <a:xfrm>
            <a:off x="514350" y="1490345"/>
            <a:ext cx="11163300" cy="19050"/>
          </a:xfrm>
          <a:prstGeom prst="rect">
            <a:avLst/>
          </a:prstGeom>
          <a:solidFill>
            <a:srgbClr val="CBD5E1"/>
          </a:solidFill>
          <a:ln w="0">
            <a:noFill/>
          </a:ln>
        </p:spPr>
      </p:sp>
      <p:sp>
        <p:nvSpPr>
          <p:cNvPr id="4" name="正文-25"/>
          <p:cNvSpPr>
            <a:spLocks noGrp="1"/>
          </p:cNvSpPr>
          <p:nvPr/>
        </p:nvSpPr>
        <p:spPr>
          <a:xfrm>
            <a:off x="11001375" y="6486525"/>
            <a:ext cx="6667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52657A"/>
                </a:solidFill>
                <a:latin typeface="Noto Sans SC"/>
                <a:ea typeface="Noto Sans SC"/>
                <a:cs typeface="Noto Sans SC"/>
              </a:rPr>
              <a:t>06 / 09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514350" y="1785620"/>
          <a:ext cx="11163300" cy="3365754"/>
        </p:xfrm>
        <a:graphic>
          <a:graphicData uri="http://schemas.openxmlformats.org/drawingml/2006/table">
            <a:tbl>
              <a:tblPr/>
              <a:tblGrid>
                <a:gridCol w="319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13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收获方向</a:t>
                      </a:r>
                    </a:p>
                  </a:txBody>
                  <a:tcPr marL="95250" marR="95250" marT="95250" marB="95250" anchor="ctr"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具体能力与可展示的成果</a:t>
                      </a:r>
                    </a:p>
                  </a:txBody>
                  <a:tcPr marL="95250" marR="95250" marT="95250" marB="95250" anchor="ctr"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掌握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Agent 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系统开发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理解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LLM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、工具与执行框架的分工，实践模型接入、工具调用、状态管理和多步骤任务执行，掌握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Agent 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从任务理解到结果输出的完整运行机制。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提升异构数据处理能力</a:t>
                      </a:r>
                    </a:p>
                  </a:txBody>
                  <a:tcPr marL="95250" marR="95250" marT="9525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处理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CSV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JSON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、数据库、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PDF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、视频等多类型数据，实践数据清洗、信息抽取、结构化转换、跨数据源关联及查询分析。</a:t>
                      </a:r>
                    </a:p>
                  </a:txBody>
                  <a:tcPr marL="95250" marR="95250" marT="95250" marB="9525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培养系统调试与优化能力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通过执行日志与实验结果定位数据、工具和推理环节的问题，改进提示词、工具设计或执行流程，并通过</a:t>
                      </a:r>
                      <a:r>
                        <a:rPr lang="en-US" altLang="zh-CN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 60 </a:t>
                      </a: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题测试对比效果。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365"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lang="zh-CN" altLang="en-US"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积累完整工程项目经验</a:t>
                      </a:r>
                    </a:p>
                  </a:txBody>
                  <a:tcPr marL="95250" marR="95250" marT="95250" marB="9525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600" b="0">
                          <a:solidFill>
                            <a:srgbClr val="18314A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整理可复现的代码、实验结果与个人贡献，用于实习简历、项目面试或保研交流，并用具体案例讲清设计与改进</a:t>
                      </a:r>
                    </a:p>
                  </a:txBody>
                  <a:tcPr marL="95250" marR="95250" marT="95250" marB="9525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正文-26"/>
          <p:cNvSpPr>
            <a:spLocks noGrp="1"/>
          </p:cNvSpPr>
          <p:nvPr/>
        </p:nvSpPr>
        <p:spPr>
          <a:xfrm>
            <a:off x="514350" y="5506085"/>
            <a:ext cx="1116330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02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02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sz="2025" b="1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项目结束后，可以整理成哪些展示材料</a:t>
            </a:r>
          </a:p>
        </p:txBody>
      </p:sp>
      <p:sp>
        <p:nvSpPr>
          <p:cNvPr id="7" name="正文-27"/>
          <p:cNvSpPr>
            <a:spLocks noGrp="1"/>
          </p:cNvSpPr>
          <p:nvPr/>
        </p:nvSpPr>
        <p:spPr>
          <a:xfrm>
            <a:off x="223520" y="5982335"/>
            <a:ext cx="11941175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系统架构图、核心功能与执行流程、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60 </a:t>
            </a: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题评测结果（可以增加新的评测）、典型任务执行案例、问题定位与优化对比，以及可复现的代码与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README</a:t>
            </a: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。</a:t>
            </a:r>
          </a:p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项目介绍重点：解决了什么问题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→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如何设计与实现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→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实验效果如何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en-US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→</a:t>
            </a:r>
            <a:r>
              <a:rPr lang="en-US" altLang="zh-CN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</a:t>
            </a:r>
            <a:r>
              <a:rPr lang="zh-CN" altLang="en-US" sz="1650" b="0" dirty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自己完成了哪些工作与改进。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609600" y="16573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最终提交材料与报告要求</a:t>
            </a:r>
            <a:endParaRPr lang="zh-CN" altLang="en-US" sz="3000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648950" y="64198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rPr>
              <a:t>09 / 09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47625" y="706755"/>
            <a:ext cx="12085955" cy="4241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0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lnSpc>
                <a:spcPct val="150000"/>
              </a:lnSpc>
              <a:defRPr sz="1800" b="0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latin typeface="Noto Sans SC"/>
                <a:ea typeface="Noto Sans SC"/>
                <a:cs typeface="Noto Sans SC"/>
              </a:rPr>
              <a:t>项目提交材料（6 项必交，须完整、可运行、可复现）</a:t>
            </a:r>
            <a:endParaRPr sz="2025" b="1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52400" y="2923540"/>
          <a:ext cx="11950974" cy="2895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64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zh-CN"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期末报告建议结构</a:t>
                      </a:r>
                      <a:endParaRPr lang="en-US" altLang="zh-CN" sz="1400" b="1">
                        <a:solidFill>
                          <a:srgbClr val="FFFFFF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0" marB="0" anchor="ctr">
                    <a:solidFill>
                      <a:srgbClr val="1831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4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需要说明的核心内容</a:t>
                      </a:r>
                    </a:p>
                  </a:txBody>
                  <a:tcPr marL="95250" marR="95250" marT="0" marB="0" anchor="ctr">
                    <a:solidFill>
                      <a:srgbClr val="1831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CN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任务与数据理解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任务目标、数据类型、输入输出，以及跨文件分析的主要困难。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/>
                      <a:r>
                        <a:rPr 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Agent 系统架构</a:t>
                      </a:r>
                      <a:endParaRPr lang="zh-CN" altLang="en-US" sz="1400" b="0">
                        <a:solidFill>
                          <a:srgbClr val="1831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模型、主程序与工具如何分工，如何决策、执行、接收反馈和停止。</a:t>
                      </a:r>
                      <a:endParaRPr lang="zh-CN" altLang="en-US" sz="1400" b="0">
                        <a:solidFill>
                          <a:srgbClr val="18314A"/>
                        </a:solidFill>
                        <a:latin typeface="Noto Sans CJK SC"/>
                        <a:ea typeface="Noto Sans CJK SC"/>
                        <a:cs typeface="Noto Sans CJK SC"/>
                      </a:endParaRP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关键模块实现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数据发现与处理、工具接口、状态管理、错误恢复及结果生成。</a:t>
                      </a:r>
                    </a:p>
                  </a:txBody>
                  <a:tcPr marL="95250" marR="95250" marT="0" marB="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实验设置与结果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说明模型配置、评分器版本与 λ＝0.1，报告 60 题逐题及平均得分、满分/部分分/零分题数和耗时。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案例与错误分析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分析成功与失败任务的执行过程，并检查行内字段对应关系及结果的业务正确性。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系统优化与对比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说明设计依据，对比优化前后或不同方案的效果，分析与教师 75.6387 分基线的差距及原因。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复现与参考说明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0">
                          <a:solidFill>
                            <a:srgbClr val="18314A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说明环境、运行与评测命令，标注参考项目及代码版本，区分引用内容与个人实现。</a:t>
                      </a:r>
                    </a:p>
                  </a:txBody>
                  <a:tcPr marL="95250" marR="95250" marT="0" marB="0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0" name="组合 9"/>
          <p:cNvGrpSpPr/>
          <p:nvPr>
            <p:custDataLst>
              <p:tags r:id="rId1"/>
            </p:custDataLst>
          </p:nvPr>
        </p:nvGrpSpPr>
        <p:grpSpPr>
          <a:xfrm>
            <a:off x="120015" y="1193800"/>
            <a:ext cx="4159250" cy="664845"/>
            <a:chOff x="415" y="2792"/>
            <a:chExt cx="6550" cy="1047"/>
          </a:xfrm>
        </p:grpSpPr>
        <p:sp>
          <p:nvSpPr>
            <p:cNvPr id="5" name="圆角矩形 4"/>
            <p:cNvSpPr/>
            <p:nvPr>
              <p:custDataLst>
                <p:tags r:id="rId17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18"/>
              </p:custDataLst>
            </p:nvPr>
          </p:nvSpPr>
          <p:spPr>
            <a:xfrm>
              <a:off x="529" y="2792"/>
              <a:ext cx="6436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01 </a:t>
              </a:r>
              <a:r>
                <a:rPr lang="zh-CN" altLang="en-US"/>
                <a:t>完整项目源码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050"/>
                <a:t>通用 Agent、工具调用、数据处理、错误恢复与批量运行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>
            <a:off x="4296410" y="1193800"/>
            <a:ext cx="4314825" cy="865505"/>
            <a:chOff x="415" y="2792"/>
            <a:chExt cx="6550" cy="1363"/>
          </a:xfrm>
        </p:grpSpPr>
        <p:sp>
          <p:nvSpPr>
            <p:cNvPr id="12" name="圆角矩形 11"/>
            <p:cNvSpPr/>
            <p:nvPr>
              <p:custDataLst>
                <p:tags r:id="rId15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6"/>
              </p:custDataLst>
            </p:nvPr>
          </p:nvSpPr>
          <p:spPr>
            <a:xfrm>
              <a:off x="529" y="2792"/>
              <a:ext cx="6436" cy="13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02 </a:t>
              </a:r>
              <a:r>
                <a:rPr lang="zh-CN" altLang="en-US"/>
                <a:t>环境与依赖配置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050"/>
                <a:t>依赖版本、模型配置、环境模板（不含真实密钥）</a:t>
              </a:r>
            </a:p>
          </p:txBody>
        </p:sp>
      </p:grp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8690610" y="1193800"/>
            <a:ext cx="3451860" cy="664845"/>
            <a:chOff x="415" y="2792"/>
            <a:chExt cx="6550" cy="1047"/>
          </a:xfrm>
        </p:grpSpPr>
        <p:sp>
          <p:nvSpPr>
            <p:cNvPr id="15" name="圆角矩形 14"/>
            <p:cNvSpPr/>
            <p:nvPr>
              <p:custDataLst>
                <p:tags r:id="rId13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4"/>
              </p:custDataLst>
            </p:nvPr>
          </p:nvSpPr>
          <p:spPr>
            <a:xfrm>
              <a:off x="529" y="2792"/>
              <a:ext cx="6436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03 预测结果 CSV</a:t>
              </a:r>
              <a:endParaRPr lang="zh-CN" altLang="en-US"/>
            </a:p>
            <a:p>
              <a:pPr>
                <a:lnSpc>
                  <a:spcPct val="120000"/>
                </a:lnSpc>
              </a:pPr>
              <a:r>
                <a:rPr lang="zh-CN" altLang="en-US" sz="1050">
                  <a:ea typeface="宋体" charset="0"/>
                </a:rPr>
                <a:t>按任务目录保存 prediction.csv，单独记录失败原因</a:t>
              </a:r>
            </a:p>
          </p:txBody>
        </p:sp>
      </p:grpSp>
      <p:grpSp>
        <p:nvGrpSpPr>
          <p:cNvPr id="17" name="组合 16"/>
          <p:cNvGrpSpPr/>
          <p:nvPr>
            <p:custDataLst>
              <p:tags r:id="rId4"/>
            </p:custDataLst>
          </p:nvPr>
        </p:nvGrpSpPr>
        <p:grpSpPr>
          <a:xfrm>
            <a:off x="137160" y="2023110"/>
            <a:ext cx="4159250" cy="664845"/>
            <a:chOff x="415" y="2792"/>
            <a:chExt cx="6550" cy="1047"/>
          </a:xfrm>
        </p:grpSpPr>
        <p:sp>
          <p:nvSpPr>
            <p:cNvPr id="18" name="圆角矩形 17"/>
            <p:cNvSpPr/>
            <p:nvPr>
              <p:custDataLst>
                <p:tags r:id="rId11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12"/>
              </p:custDataLst>
            </p:nvPr>
          </p:nvSpPr>
          <p:spPr>
            <a:xfrm>
              <a:off x="529" y="2792"/>
              <a:ext cx="6436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04 </a:t>
              </a:r>
              <a:r>
                <a:rPr lang="zh-CN" altLang="en-US"/>
                <a:t>项目复现文档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050"/>
                <a:t>数据准备、安装配置、批量运行与评测命令</a:t>
              </a:r>
              <a:endParaRPr lang="zh-CN" altLang="en-US" sz="1050"/>
            </a:p>
          </p:txBody>
        </p:sp>
      </p:grpSp>
      <p:grpSp>
        <p:nvGrpSpPr>
          <p:cNvPr id="20" name="组合 19"/>
          <p:cNvGrpSpPr/>
          <p:nvPr>
            <p:custDataLst>
              <p:tags r:id="rId5"/>
            </p:custDataLst>
          </p:nvPr>
        </p:nvGrpSpPr>
        <p:grpSpPr>
          <a:xfrm>
            <a:off x="4296410" y="2023110"/>
            <a:ext cx="4104344" cy="664845"/>
            <a:chOff x="415" y="2792"/>
            <a:chExt cx="6437" cy="1047"/>
          </a:xfrm>
        </p:grpSpPr>
        <p:sp>
          <p:nvSpPr>
            <p:cNvPr id="21" name="圆角矩形 20"/>
            <p:cNvSpPr/>
            <p:nvPr>
              <p:custDataLst>
                <p:tags r:id="rId9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10"/>
              </p:custDataLst>
            </p:nvPr>
          </p:nvSpPr>
          <p:spPr>
            <a:xfrm>
              <a:off x="416" y="2792"/>
              <a:ext cx="6436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05 实验评测记录</a:t>
              </a:r>
              <a:endParaRPr lang="zh-CN" altLang="en-US"/>
            </a:p>
            <a:p>
              <a:pPr algn="ctr">
                <a:lnSpc>
                  <a:spcPct val="120000"/>
                </a:lnSpc>
              </a:pPr>
              <a:r>
                <a:rPr lang="en-US" altLang="zh-CN" sz="1050"/>
                <a:t>60 题逐题得分、平均分、耗时、日志及基线对比</a:t>
              </a:r>
              <a:endParaRPr lang="zh-CN" altLang="en-US" sz="1050"/>
            </a:p>
          </p:txBody>
        </p:sp>
      </p:grpSp>
      <p:grpSp>
        <p:nvGrpSpPr>
          <p:cNvPr id="23" name="组合 22"/>
          <p:cNvGrpSpPr/>
          <p:nvPr>
            <p:custDataLst>
              <p:tags r:id="rId6"/>
            </p:custDataLst>
          </p:nvPr>
        </p:nvGrpSpPr>
        <p:grpSpPr>
          <a:xfrm>
            <a:off x="8455660" y="2023110"/>
            <a:ext cx="3630295" cy="664845"/>
            <a:chOff x="299" y="2792"/>
            <a:chExt cx="6666" cy="1047"/>
          </a:xfrm>
        </p:grpSpPr>
        <p:sp>
          <p:nvSpPr>
            <p:cNvPr id="24" name="圆角矩形 23"/>
            <p:cNvSpPr/>
            <p:nvPr>
              <p:custDataLst>
                <p:tags r:id="rId7"/>
              </p:custDataLst>
            </p:nvPr>
          </p:nvSpPr>
          <p:spPr>
            <a:xfrm>
              <a:off x="415" y="2823"/>
              <a:ext cx="6436" cy="101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2">
                  <a:lumMod val="25000"/>
                  <a:lumOff val="7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8"/>
              </p:custDataLst>
            </p:nvPr>
          </p:nvSpPr>
          <p:spPr>
            <a:xfrm>
              <a:off x="299" y="2792"/>
              <a:ext cx="6666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/>
                <a:t>06 </a:t>
              </a:r>
              <a:r>
                <a:rPr lang="zh-CN" altLang="en-US"/>
                <a:t>详细期末报告</a:t>
              </a:r>
            </a:p>
            <a:p>
              <a:pPr algn="ctr">
                <a:lnSpc>
                  <a:spcPct val="120000"/>
                </a:lnSpc>
              </a:pPr>
              <a:r>
                <a:rPr lang="zh-CN" altLang="en-US" sz="1050"/>
                <a:t>系统设计、个人实现、优化尝试与实验结果分析</a:t>
              </a:r>
            </a:p>
          </p:txBody>
        </p:sp>
      </p:grpSp>
      <p:sp>
        <p:nvSpPr>
          <p:cNvPr id="26" name="正文-27"/>
          <p:cNvSpPr>
            <a:spLocks noGrp="1"/>
          </p:cNvSpPr>
          <p:nvPr/>
        </p:nvSpPr>
        <p:spPr>
          <a:xfrm>
            <a:off x="223520" y="5982335"/>
            <a:ext cx="11941175" cy="644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提交前请检查代码、结果文件与文档是否一致，避免路径错误与缺失文件。</a:t>
            </a:r>
            <a:r>
              <a:rPr lang="zh-CN" altLang="en-US" sz="1400">
                <a:sym typeface="+mn-ea"/>
              </a:rPr>
              <a:t>建议统一压缩打包提交</a:t>
            </a:r>
            <a:endParaRPr lang="zh-CN" altLang="en-US" sz="1400" b="0">
              <a:solidFill>
                <a:srgbClr val="18314A"/>
              </a:solidFill>
              <a:latin typeface="Noto Sans SC"/>
              <a:ea typeface="Noto Sans SC"/>
              <a:cs typeface="Noto Sans SC"/>
            </a:endParaRPr>
          </a:p>
          <a:p>
            <a:pPr>
              <a:lnSpc>
                <a:spcPct val="120000"/>
              </a:lnSpc>
              <a:defRPr sz="165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defRPr>
            </a:pPr>
            <a:r>
              <a:rPr lang="zh-CN" altLang="en-US"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如使用参考项目、外部代码或</a:t>
            </a:r>
            <a:r>
              <a:rPr lang="en-US" altLang="zh-CN"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 Al</a:t>
            </a:r>
            <a:r>
              <a:rPr lang="zh-CN" altLang="en-US" sz="1400" b="0">
                <a:solidFill>
                  <a:srgbClr val="18314A"/>
                </a:solidFill>
                <a:latin typeface="Noto Sans SC"/>
                <a:ea typeface="Noto Sans SC"/>
                <a:cs typeface="Noto Sans SC"/>
              </a:rPr>
              <a:t>工具，应在报告中明确说明使用方式与修改内容。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609600" y="3810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资料与参考代码：下载、运行和查阅入口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894715"/>
            <a:ext cx="10972800" cy="8204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lnSpc>
                <a:spcPct val="150000"/>
              </a:lnSpc>
              <a:defRPr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公开方案与参考代码仅供学习借鉴，不作为唯一实现标准。学生需围绕公开</a:t>
            </a:r>
            <a:r>
              <a:rPr lang="en-US" altLang="zh-CN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 60 </a:t>
            </a:r>
            <a:r>
              <a:rPr lang="zh-CN" altLang="en-US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道任务，自主设计、实现或改进</a:t>
            </a:r>
            <a:r>
              <a:rPr lang="en-US" altLang="zh-CN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 Data Agent</a:t>
            </a:r>
            <a:r>
              <a:rPr lang="zh-CN" altLang="en-US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  <a:p>
            <a:pPr>
              <a:lnSpc>
                <a:spcPct val="150000"/>
              </a:lnSpc>
              <a:defRPr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lang="zh-CN" altLang="en-US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课程统一使用本地评测程序（</a:t>
            </a:r>
            <a:r>
              <a:rPr lang="en-US" altLang="zh-CN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λ = 0.1</a:t>
            </a:r>
            <a:r>
              <a:rPr lang="zh-CN" altLang="en-US" sz="1500" b="0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rPr>
              <a:t>）对实验结果进行评分，在统一任务范围和评测设置下，尝试获得高于参考基线的成绩。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648950" y="64198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57A"/>
                </a:solidFill>
                <a:latin typeface="Noto Sans CJK SC"/>
                <a:ea typeface="Noto Sans CJK SC"/>
                <a:cs typeface="Noto Sans CJK SC"/>
              </a:rPr>
              <a:t>08 / 09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14350" y="193040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比赛官网与第二阶段规范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14350" y="226377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3"/>
              </a:rPr>
              <a:t>https://dataagent.top/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3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14350" y="254000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4"/>
              </a:rPr>
              <a:t>https://dataagent.top/rules/phase-2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4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14350" y="4431665"/>
            <a:ext cx="5334000" cy="3454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任务数据下载（含 410 题输入、60 题答案与评测配置）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" y="4778375"/>
            <a:ext cx="53340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5"/>
              </a:rPr>
              <a:t>https://huggingface.co/datasets/HKUSTDial/DataSpace/tree/main/release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5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191250" y="185864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DataSpace 数据代码 / 本课程列匹配评分器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191250" y="2192020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6"/>
              </a:rPr>
              <a:t>https://github.com/HKUSTDial/DataSpace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6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191250" y="2496820"/>
            <a:ext cx="5334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7"/>
              </a:rPr>
              <a:t>https://github.com/zhezh/kddcup2026_champion/blob/main/src/data_agent_baseline/run_compare_to_gt.py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191250" y="335851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Top1 参考项目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191250" y="372046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 lvl="0" algn="l">
              <a:buClrTx/>
              <a:buSzTx/>
              <a:buFontTx/>
              <a:def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>
                <a:solidFill>
                  <a:schemeClr val="accent1">
                    <a:lumMod val="60000"/>
                    <a:lumOff val="40000"/>
                  </a:schemeClr>
                </a:solidFill>
                <a:sym typeface="+mn-ea"/>
                <a:hlinkClick r:id="rId8"/>
              </a:rPr>
              <a:t>https://github.com/zhezh/kddcup2026_champion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191250" y="4325620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校内模型 API 与令牌申请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191250" y="467804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9"/>
              </a:rPr>
              <a:t>https://developer.ecnu.edu.cn/vitepress/llm/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9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91250" y="4982845"/>
            <a:ext cx="53340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10"/>
              </a:rPr>
              <a:t>https://developer.ecnu.edu.cn/vitepress/llm/authorization.html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10"/>
            </a:endParaRPr>
          </a:p>
        </p:txBody>
      </p:sp>
      <p:sp>
        <p:nvSpPr>
          <p:cNvPr id="18" name="公开60题任务清单"/>
          <p:cNvSpPr>
            <a:spLocks noGrp="1"/>
          </p:cNvSpPr>
          <p:nvPr/>
        </p:nvSpPr>
        <p:spPr>
          <a:xfrm>
            <a:off x="514350" y="3188335"/>
            <a:ext cx="5334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875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50" b="1">
                <a:solidFill>
                  <a:srgbClr val="18314A"/>
                </a:solidFill>
                <a:latin typeface="Noto Sans CJK SC"/>
                <a:ea typeface="Noto Sans CJK SC"/>
                <a:cs typeface="Noto Sans CJK SC"/>
              </a:rPr>
              <a:t>公开 60 题任务清单（public_reference_tasks.json）</a:t>
            </a:r>
            <a:endParaRPr sz="1875" b="1">
              <a:solidFill>
                <a:srgbClr val="18314A"/>
              </a:solidFill>
              <a:latin typeface="Noto Sans CJK SC"/>
              <a:ea typeface="Noto Sans CJK SC"/>
              <a:cs typeface="Noto Sans CJK SC"/>
            </a:endParaRPr>
          </a:p>
        </p:txBody>
      </p:sp>
      <p:sp>
        <p:nvSpPr>
          <p:cNvPr id="19" name="公开60题清单链接"/>
          <p:cNvSpPr>
            <a:spLocks noGrp="1"/>
          </p:cNvSpPr>
          <p:nvPr/>
        </p:nvSpPr>
        <p:spPr>
          <a:xfrm>
            <a:off x="514350" y="3540760"/>
            <a:ext cx="5334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>
            <a:pPr>
              <a:defRPr sz="1575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00" b="0" u="sng">
                <a:solidFill>
                  <a:srgbClr val="176AA6"/>
                </a:solidFill>
                <a:latin typeface="Noto Sans CJK SC"/>
                <a:ea typeface="Noto Sans CJK SC"/>
                <a:cs typeface="Noto Sans CJK SC"/>
                <a:hlinkClick r:id="rId11"/>
              </a:rPr>
              <a:t>https://huggingface.co/datasets/HKUSTDial/DataSpace/blob/main/data/public_reference_tasks.json</a:t>
            </a:r>
            <a:endParaRPr sz="1575" b="0" u="sng">
              <a:solidFill>
                <a:srgbClr val="176AA6"/>
              </a:solidFill>
              <a:latin typeface="Noto Sans CJK SC"/>
              <a:ea typeface="Noto Sans CJK SC"/>
              <a:cs typeface="Noto Sans CJK SC"/>
              <a:hlinkClick r:id="rId11"/>
            </a:endParaRPr>
          </a:p>
        </p:txBody>
      </p:sp>
      <p:sp>
        <p:nvSpPr>
          <p:cNvPr id="21" name="Text 21"/>
          <p:cNvSpPr txBox="1"/>
          <p:nvPr/>
        </p:nvSpPr>
        <p:spPr>
          <a:xfrm>
            <a:off x="514350" y="5516245"/>
            <a:ext cx="11001375" cy="92202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>
              <a:lnSpc>
                <a:spcPct val="122000"/>
              </a:lnSpc>
            </a:pPr>
            <a:r>
              <a:rPr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课程参考基线：75.6387 / 100（公开60题）</a:t>
            </a:r>
          </a:p>
          <a:p>
            <a:pPr>
              <a:lnSpc>
                <a:spcPct val="122000"/>
              </a:lnSpc>
            </a:pP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通过华师大接口调用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ecnu-max</a:t>
            </a: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32</a:t>
            </a: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题）与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ecnu-plus</a:t>
            </a: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28</a:t>
            </a: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题）得到。学生需在相同任务范围与统一评测设置下，自主设计或优化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 Data Agent</a:t>
            </a:r>
            <a:r>
              <a:rPr lang="zh-CN" altLang="en-US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，尝试超过该参考基线</a:t>
            </a:r>
            <a:r>
              <a:rPr lang="en-US" altLang="zh-CN" sz="1500" b="1">
                <a:solidFill>
                  <a:srgbClr val="176AA6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08*257"/>
  <p:tag name="TABLE_ENDDRAG_RECT" val="437*91*508*25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907*242"/>
  <p:tag name="TABLE_ENDDRAG_RECT" val="26*262*907*24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17.65,&quot;left&quot;:9.45,&quot;top&quot;:110.95,&quot;width&quot;:946.6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1964</Words>
  <Application>Microsoft Office PowerPoint</Application>
  <PresentationFormat>宽屏</PresentationFormat>
  <Paragraphs>438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Aptos</vt:lpstr>
      <vt:lpstr>Noto Sans CJK SC</vt:lpstr>
      <vt:lpstr>Noto Sans SC</vt:lpstr>
      <vt:lpstr>DejaVu Sans Mono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Liping Wang</cp:lastModifiedBy>
  <cp:revision>11</cp:revision>
  <dcterms:created xsi:type="dcterms:W3CDTF">2026-10-11T14:02:38Z</dcterms:created>
  <dcterms:modified xsi:type="dcterms:W3CDTF">2026-10-16T04:41:39Z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41E411231ACD71FBFE96CB6A69EAE867_43</vt:lpwstr>
  </property>
  <property fmtid="{D5CDD505-2E9C-101B-9397-08002B2CF9AE}" pid="3" name="KSOProductBuildVer">
    <vt:lpwstr>2052-12.1.22218.22218</vt:lpwstr>
  </property>
</Properties>
</file>